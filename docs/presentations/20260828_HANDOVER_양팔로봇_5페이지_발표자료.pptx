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1547C76-D07A-499A-BF8C-7880DC3872A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60000" y="360000"/>
            <a:ext cx="10800000" cy="73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OpenAI image generation, local asset: /home/lim/hold-the-flow-project-site/public/images/bimanual-mobile-hero-v2.png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 정리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/home/lim/bimanual-robot/docs/20260828_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회의결과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주제후보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역할분담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60000" y="360000"/>
            <a:ext cx="10800000" cy="73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 정리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/home/lim/bimanual-robot/docs/20260828_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회의결과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주제후보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역할분담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Inner Monologue: https://arxiv.org/abs/2207.05608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60000" y="360000"/>
            <a:ext cx="10800000" cy="86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OpenAI image generation, local asset: /home/lim/bimanual-robot/docs/gripper-bottle-contact-v1.png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ACT / ALOHA: https://arxiv.org/abs/2304.13705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Pouring by Feel: https://arxiv.org/abs/2310.18473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Interlink FSR 400 series data sheet: https://cdn.sparkfun.com/assets/8/a/1/2/0/2010-10-26-DataSheet-FSR400-Layout2.pdf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60000" y="360000"/>
            <a:ext cx="10800000" cy="57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 일정 원본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/home/lim/bimanual-robot/docs/20260828_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회의결과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주제후보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역할분담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60000" y="360000"/>
            <a:ext cx="10800000" cy="57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 역할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게이트 원본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/home/lim/bimanual-robot/docs/20260828_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회의결과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주제후보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1100" spc="-1" strike="noStrike">
                <a:solidFill>
                  <a:srgbClr val="000000"/>
                </a:solidFill>
                <a:latin typeface="Arial"/>
              </a:rPr>
              <a:t>역할분담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984CF-A17C-4C15-A3A3-8F4A8345BC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9351A-3B4E-4CC6-BD91-C5AD680A86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55A0D33-69F3-4052-AD24-DDDA6BACB21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896000" y="0"/>
            <a:ext cx="118800" cy="6858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" descr="이동형 양팔 로봇이 병과 컵을 잡고 물을 붓는 콘셉트 이미지"/>
          <p:cNvPicPr/>
          <p:nvPr/>
        </p:nvPicPr>
        <p:blipFill>
          <a:blip r:embed="rId1"/>
          <a:stretch/>
        </p:blipFill>
        <p:spPr>
          <a:xfrm>
            <a:off x="5436000" y="846000"/>
            <a:ext cx="6120000" cy="407988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540000" y="432000"/>
            <a:ext cx="32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38" strike="noStrike">
                <a:solidFill>
                  <a:srgbClr val="0057d9"/>
                </a:solidFill>
                <a:latin typeface="Courier New"/>
                <a:ea typeface="Courier New"/>
              </a:rPr>
              <a:t>HANDOVER / PROJECT PROPOSAL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22000" y="1278000"/>
            <a:ext cx="428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0" spc="225" strike="noStrike">
                <a:solidFill>
                  <a:srgbClr val="0b1220"/>
                </a:solidFill>
                <a:latin typeface="Noto Sans CJK KR"/>
                <a:ea typeface="Noto Sans CJK KR"/>
              </a:rPr>
              <a:t>HOLD THE FLOW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58000" y="2394000"/>
            <a:ext cx="403200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700" spc="77" strike="noStrike">
                <a:solidFill>
                  <a:srgbClr val="667085"/>
                </a:solidFill>
                <a:latin typeface="Noto Serif CJK KR"/>
                <a:ea typeface="Noto Serif CJK KR"/>
              </a:rPr>
              <a:t>물과 작업의 흐름을 함께 붙잡는다</a:t>
            </a:r>
            <a:r>
              <a:rPr b="0" lang="en-US" sz="1700" spc="77" strike="noStrike">
                <a:solidFill>
                  <a:srgbClr val="667085"/>
                </a:solidFill>
                <a:latin typeface="Noto Serif CJK KR"/>
                <a:ea typeface="Noto Serif CJK KR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58000" y="3132000"/>
            <a:ext cx="4032000" cy="29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6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이동하고 잡고 붓고 확인하는 이동형 양팔 로봇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36000" y="5094000"/>
            <a:ext cx="1440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15" strike="noStrike">
                <a:solidFill>
                  <a:srgbClr val="667085"/>
                </a:solidFill>
                <a:latin typeface="Courier New"/>
                <a:ea typeface="Courier New"/>
              </a:rPr>
              <a:t>CONCEPT IMAGE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36000" y="5796000"/>
            <a:ext cx="1440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HANDOVER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044000" y="5796000"/>
            <a:ext cx="1512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1000" spc="15" strike="noStrike">
                <a:solidFill>
                  <a:srgbClr val="667085"/>
                </a:solidFill>
                <a:latin typeface="Courier New"/>
                <a:ea typeface="Courier New"/>
              </a:rPr>
              <a:t>2026.08.28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40000" y="234000"/>
            <a:ext cx="1296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HANDOVER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40000" y="432000"/>
            <a:ext cx="144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HOLD THE FLOW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9936000" y="252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900" spc="4" strike="noStrike">
                <a:solidFill>
                  <a:srgbClr val="667085"/>
                </a:solidFill>
                <a:latin typeface="Courier New"/>
                <a:ea typeface="Courier New"/>
              </a:rPr>
              <a:t>02 / 05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1628000" y="468000"/>
            <a:ext cx="25200" cy="5580000"/>
          </a:xfrm>
          <a:prstGeom prst="rect">
            <a:avLst/>
          </a:prstGeom>
          <a:solidFill>
            <a:srgbClr val="d8e0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1628000" y="3816000"/>
            <a:ext cx="25200" cy="2232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1574000" y="3765600"/>
            <a:ext cx="133200" cy="133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40000" y="6415200"/>
            <a:ext cx="3780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15" strike="noStrike">
                <a:solidFill>
                  <a:srgbClr val="667085"/>
                </a:solidFill>
                <a:latin typeface="Courier New"/>
                <a:ea typeface="Courier New"/>
              </a:rPr>
              <a:t>BIMANUAL POURING ROBOT · 2026.08.28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40000" y="792000"/>
            <a:ext cx="1026000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한 번의 성공보다</a:t>
            </a:r>
            <a:r>
              <a:rPr b="1" lang="en-US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, </a:t>
            </a:r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다섯 단계의 연결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40000" y="1458000"/>
            <a:ext cx="7920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작업을 나눠 통과시킨 뒤 하나의 데모로 연결한다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340000" y="3060000"/>
            <a:ext cx="7416000" cy="0"/>
          </a:xfrm>
          <a:prstGeom prst="line">
            <a:avLst/>
          </a:prstGeom>
          <a:ln w="126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40000" y="1872000"/>
            <a:ext cx="1404000" cy="142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800" spc="15" strike="noStrike">
                <a:solidFill>
                  <a:srgbClr val="0057d9"/>
                </a:solidFill>
                <a:latin typeface="Noto Serif CJK KR"/>
                <a:ea typeface="Noto Serif CJK KR"/>
              </a:rPr>
              <a:t>05</a:t>
            </a:r>
            <a:endParaRPr b="0" lang="en-US" sz="7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12000" y="1764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97" strike="noStrike">
                <a:solidFill>
                  <a:srgbClr val="667085"/>
                </a:solidFill>
                <a:latin typeface="Courier New"/>
                <a:ea typeface="Courier New"/>
              </a:rPr>
              <a:t>CONNECTED SKILLS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271600" y="2991600"/>
            <a:ext cx="136800" cy="1368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692000" y="1944000"/>
            <a:ext cx="129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692000" y="2196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APPROACH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584000" y="2484000"/>
            <a:ext cx="1512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접근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548000" y="3348000"/>
            <a:ext cx="158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작업대 인근 이동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692000" y="4032000"/>
            <a:ext cx="1296000" cy="324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-12600" bIns="-12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125600" y="2991600"/>
            <a:ext cx="136800" cy="1368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546000" y="1944000"/>
            <a:ext cx="129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546000" y="2196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ALIGN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438000" y="2484000"/>
            <a:ext cx="1512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정렬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402000" y="3348000"/>
            <a:ext cx="158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Depth·Tag </a:t>
            </a:r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보정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546000" y="4032000"/>
            <a:ext cx="1296000" cy="450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0" bIns="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979600" y="2991600"/>
            <a:ext cx="136800" cy="1368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0" y="1944000"/>
            <a:ext cx="129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400000" y="2196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GRASP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292000" y="2484000"/>
            <a:ext cx="1512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양팔 파지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256000" y="3348000"/>
            <a:ext cx="158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병</a:t>
            </a:r>
            <a:r>
              <a:rPr b="0" lang="en-US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컵 동시 파지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400000" y="4032000"/>
            <a:ext cx="1296000" cy="576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12600" bIns="12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833600" y="2991600"/>
            <a:ext cx="136800" cy="1368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254000" y="1944000"/>
            <a:ext cx="129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254000" y="2196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POUR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146000" y="2484000"/>
            <a:ext cx="1512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붓기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110000" y="3348000"/>
            <a:ext cx="158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기울기</a:t>
            </a:r>
            <a:r>
              <a:rPr b="0" lang="en-US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접촉 기록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254000" y="4032000"/>
            <a:ext cx="1296000" cy="702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687600" y="2991600"/>
            <a:ext cx="136800" cy="136800"/>
          </a:xfrm>
          <a:prstGeom prst="ellipse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108000" y="1944000"/>
            <a:ext cx="129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108000" y="2196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VERIFY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000000" y="2484000"/>
            <a:ext cx="1512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검증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964000" y="3348000"/>
            <a:ext cx="158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중량</a:t>
            </a:r>
            <a:r>
              <a:rPr b="0" lang="en-US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상태 판정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9108000" y="4032000"/>
            <a:ext cx="1296000" cy="828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37800" bIns="378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40000" y="4950000"/>
            <a:ext cx="10656000" cy="756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92000" y="5148000"/>
            <a:ext cx="108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32" strike="noStrike">
                <a:solidFill>
                  <a:srgbClr val="42b8ff"/>
                </a:solidFill>
                <a:latin typeface="Courier New"/>
                <a:ea typeface="Courier New"/>
              </a:rPr>
              <a:t>NORMAL PATH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908000" y="5104800"/>
            <a:ext cx="3708000" cy="34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900" spc="12" strike="noStrike">
                <a:solidFill>
                  <a:srgbClr val="ffffff"/>
                </a:solidFill>
                <a:latin typeface="Noto Sans CJK KR"/>
                <a:ea typeface="Noto Sans CJK KR"/>
              </a:rPr>
              <a:t>정상 경로는 </a:t>
            </a:r>
            <a:r>
              <a:rPr b="1" lang="en-US" sz="1900" spc="12" strike="noStrike">
                <a:solidFill>
                  <a:srgbClr val="ffffff"/>
                </a:solidFill>
                <a:latin typeface="Noto Sans CJK KR"/>
                <a:ea typeface="Noto Sans CJK KR"/>
              </a:rPr>
              <a:t>LLM </a:t>
            </a:r>
            <a:r>
              <a:rPr b="1" lang="zh-CN" sz="1900" spc="12" strike="noStrike">
                <a:solidFill>
                  <a:srgbClr val="ffffff"/>
                </a:solidFill>
                <a:latin typeface="Noto Sans CJK KR"/>
                <a:ea typeface="Noto Sans CJK KR"/>
              </a:rPr>
              <a:t>없이 실행한다</a:t>
            </a:r>
            <a:r>
              <a:rPr b="1" lang="en-US" sz="1900" spc="12" strike="noStrike">
                <a:solidFill>
                  <a:srgbClr val="ffffff"/>
                </a:solidFill>
                <a:latin typeface="Noto Sans CJK KR"/>
                <a:ea typeface="Noto Sans CJK KR"/>
              </a:rPr>
              <a:t>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832000" y="5119200"/>
            <a:ext cx="500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실패가 기록된 뒤 재파지</a:t>
            </a:r>
            <a:r>
              <a:rPr b="0" lang="en-US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재정렬</a:t>
            </a:r>
            <a:r>
              <a:rPr b="0" lang="en-US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재시도를 고른다</a:t>
            </a:r>
            <a:r>
              <a:rPr b="0" lang="en-US" sz="1400" spc="7" strike="noStrike">
                <a:solidFill>
                  <a:srgbClr val="c8d1de"/>
                </a:solidFill>
                <a:latin typeface="Noto Sans CJK KR"/>
                <a:ea typeface="Noto Sans CJK KR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40000" y="234000"/>
            <a:ext cx="1296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HANDOVER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40000" y="432000"/>
            <a:ext cx="144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HOLD THE FLOW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936000" y="252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900" spc="4" strike="noStrike">
                <a:solidFill>
                  <a:srgbClr val="667085"/>
                </a:solidFill>
                <a:latin typeface="Courier New"/>
                <a:ea typeface="Courier New"/>
              </a:rPr>
              <a:t>03 / 05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1628000" y="468000"/>
            <a:ext cx="25200" cy="5580000"/>
          </a:xfrm>
          <a:prstGeom prst="rect">
            <a:avLst/>
          </a:prstGeom>
          <a:solidFill>
            <a:srgbClr val="d8e0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628000" y="2700000"/>
            <a:ext cx="25200" cy="3348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1574000" y="2649600"/>
            <a:ext cx="133200" cy="133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40000" y="6415200"/>
            <a:ext cx="3780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15" strike="noStrike">
                <a:solidFill>
                  <a:srgbClr val="667085"/>
                </a:solidFill>
                <a:latin typeface="Courier New"/>
                <a:ea typeface="Courier New"/>
              </a:rPr>
              <a:t>BIMANUAL POURING ROBOT · 2026.08.28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40000" y="792000"/>
            <a:ext cx="1051200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병은 세게 잡는 대신</a:t>
            </a:r>
            <a:r>
              <a:rPr b="1" lang="en-US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, </a:t>
            </a:r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변화를 읽는다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40000" y="1458000"/>
            <a:ext cx="7560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평행 그리퍼를 유지하고 접촉면만 물병에 맞춘다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V홈 TPU 패드와 접촉 센서가 있는 평행 그리퍼의 연질 물병 파지 콘셉트"/>
          <p:cNvPicPr/>
          <p:nvPr/>
        </p:nvPicPr>
        <p:blipFill>
          <a:blip r:embed="rId1"/>
          <a:stretch/>
        </p:blipFill>
        <p:spPr>
          <a:xfrm>
            <a:off x="5292000" y="1764000"/>
            <a:ext cx="6048000" cy="340380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 txBox="1"/>
          <p:nvPr/>
        </p:nvSpPr>
        <p:spPr>
          <a:xfrm>
            <a:off x="576000" y="1872000"/>
            <a:ext cx="4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52000" y="1836000"/>
            <a:ext cx="3168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평행 그리퍼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52000" y="2142000"/>
            <a:ext cx="3240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두 팔의 제어 방식을 통일한다</a:t>
            </a:r>
            <a:r>
              <a:rPr b="0" lang="en-US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76000" y="2556000"/>
            <a:ext cx="3816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76000" y="2916000"/>
            <a:ext cx="4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52000" y="2880000"/>
            <a:ext cx="3168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V</a:t>
            </a:r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홈 </a:t>
            </a:r>
            <a:r>
              <a:rPr b="1" lang="en-US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TPU </a:t>
            </a:r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패드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52000" y="3186000"/>
            <a:ext cx="3240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병의 곡면을 받치고 미끄럼을 줄인다</a:t>
            </a:r>
            <a:r>
              <a:rPr b="0" lang="en-US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76000" y="3600000"/>
            <a:ext cx="3816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76000" y="3960000"/>
            <a:ext cx="4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52000" y="3924000"/>
            <a:ext cx="3168000" cy="4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200" spc="21" strike="noStrike">
                <a:solidFill>
                  <a:srgbClr val="0b1220"/>
                </a:solidFill>
                <a:latin typeface="Noto Sans CJK KR"/>
                <a:ea typeface="Noto Sans CJK KR"/>
              </a:rPr>
              <a:t>접촉 센서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52000" y="4230000"/>
            <a:ext cx="3240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눌림과 파지 변화를 기록한다</a:t>
            </a:r>
            <a:r>
              <a:rPr b="0" lang="en-US" sz="1500" spc="9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76000" y="4644000"/>
            <a:ext cx="3816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40000" y="5436000"/>
            <a:ext cx="10656000" cy="594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92000" y="5634000"/>
            <a:ext cx="1152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15" strike="noStrike">
                <a:solidFill>
                  <a:srgbClr val="42b8ff"/>
                </a:solidFill>
                <a:latin typeface="Courier New"/>
                <a:ea typeface="Courier New"/>
              </a:rPr>
              <a:t>SYSTEM FLOW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160000" y="5572800"/>
            <a:ext cx="6156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15" strike="noStrike">
                <a:solidFill>
                  <a:srgbClr val="ffffff"/>
                </a:solidFill>
                <a:latin typeface="Noto Sans CJK KR"/>
                <a:ea typeface="Noto Sans CJK KR"/>
              </a:rPr>
              <a:t>Nav2  →  Depth / Tag  →  IK / ACT  →  FSR / Scale  →  FSM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68000" y="5590800"/>
            <a:ext cx="241200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LLM · </a:t>
            </a:r>
            <a:r>
              <a:rPr b="0" lang="zh-CN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재파지 </a:t>
            </a:r>
            <a:r>
              <a:rPr b="0" lang="en-US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/ </a:t>
            </a:r>
            <a:r>
              <a:rPr b="0" lang="zh-CN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재정렬 </a:t>
            </a:r>
            <a:r>
              <a:rPr b="0" lang="en-US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/ </a:t>
            </a:r>
            <a:r>
              <a:rPr b="0" lang="zh-CN" sz="1200" spc="15" strike="noStrike">
                <a:solidFill>
                  <a:srgbClr val="b8c6d8"/>
                </a:solidFill>
                <a:latin typeface="Noto Sans CJK KR"/>
                <a:ea typeface="Noto Sans CJK KR"/>
              </a:rPr>
              <a:t>재시도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40000" y="234000"/>
            <a:ext cx="1296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HANDOVER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40000" y="432000"/>
            <a:ext cx="144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HOLD THE FLOW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936000" y="252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900" spc="4" strike="noStrike">
                <a:solidFill>
                  <a:srgbClr val="667085"/>
                </a:solidFill>
                <a:latin typeface="Courier New"/>
                <a:ea typeface="Courier New"/>
              </a:rPr>
              <a:t>04 / 05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628000" y="468000"/>
            <a:ext cx="25200" cy="5580000"/>
          </a:xfrm>
          <a:prstGeom prst="rect">
            <a:avLst/>
          </a:prstGeom>
          <a:solidFill>
            <a:srgbClr val="d8e0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1628000" y="1584000"/>
            <a:ext cx="25200" cy="4464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1574000" y="1533600"/>
            <a:ext cx="133200" cy="133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40000" y="6415200"/>
            <a:ext cx="3780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15" strike="noStrike">
                <a:solidFill>
                  <a:srgbClr val="667085"/>
                </a:solidFill>
                <a:latin typeface="Courier New"/>
                <a:ea typeface="Courier New"/>
              </a:rPr>
              <a:t>BIMANUAL POURING ROBOT · 2026.08.28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40000" y="792000"/>
            <a:ext cx="1051200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9</a:t>
            </a:r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월 중순</a:t>
            </a:r>
            <a:r>
              <a:rPr b="1" lang="en-US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, </a:t>
            </a:r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물리 게이트부터 통과시킨다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40000" y="1458000"/>
            <a:ext cx="8280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모델보다 하중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, </a:t>
            </a:r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파지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, </a:t>
            </a:r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붓기 실측으로 다음 범위를 정한다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40000" y="1926000"/>
            <a:ext cx="1944000" cy="8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600" spc="15" strike="noStrike">
                <a:solidFill>
                  <a:srgbClr val="0057d9"/>
                </a:solidFill>
                <a:latin typeface="Noto Serif CJK KR"/>
                <a:ea typeface="Noto Serif CJK KR"/>
              </a:rPr>
              <a:t>09.15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94000" y="2646000"/>
            <a:ext cx="162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1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실물 게이트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94000" y="3024000"/>
            <a:ext cx="2196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통과 조건만 구현에 반영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204000" y="2934000"/>
            <a:ext cx="6624000" cy="0"/>
          </a:xfrm>
          <a:prstGeom prst="line">
            <a:avLst/>
          </a:prstGeom>
          <a:ln w="126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128400" y="2858400"/>
            <a:ext cx="151200" cy="151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520000" y="1962000"/>
            <a:ext cx="13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G0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520000" y="2250000"/>
            <a:ext cx="1368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파지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430000" y="3240000"/>
            <a:ext cx="1548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병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컵 정적 파지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592000" y="4050000"/>
            <a:ext cx="1224000" cy="288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784400" y="2858400"/>
            <a:ext cx="151200" cy="151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176000" y="1962000"/>
            <a:ext cx="13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G1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176000" y="2250000"/>
            <a:ext cx="1368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기울이기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086000" y="3240000"/>
            <a:ext cx="1548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무수 자세 유지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248000" y="4050000"/>
            <a:ext cx="1224000" cy="432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-1800" bIns="-1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440400" y="2858400"/>
            <a:ext cx="151200" cy="151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832000" y="1962000"/>
            <a:ext cx="13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057d9"/>
                </a:solidFill>
                <a:latin typeface="Courier New"/>
                <a:ea typeface="Courier New"/>
              </a:rPr>
              <a:t>G2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832000" y="2250000"/>
            <a:ext cx="1368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붓기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742000" y="3240000"/>
            <a:ext cx="1548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중량 결과 확인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904000" y="4050000"/>
            <a:ext cx="1224000" cy="57600"/>
          </a:xfrm>
          <a:prstGeom prst="rect">
            <a:avLst/>
          </a:prstGeom>
          <a:solidFill>
            <a:srgbClr val="42b8ff"/>
          </a:solidFill>
          <a:ln w="0">
            <a:noFill/>
          </a:ln>
        </p:spPr>
        <p:txBody>
          <a:bodyPr lIns="90000" rIns="90000" tIns="12600" bIns="12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096400" y="2858400"/>
            <a:ext cx="151200" cy="151200"/>
          </a:xfrm>
          <a:prstGeom prst="ellipse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488000" y="1962000"/>
            <a:ext cx="13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0b1220"/>
                </a:solidFill>
                <a:latin typeface="Courier New"/>
                <a:ea typeface="Courier New"/>
              </a:rPr>
              <a:t>G3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488000" y="2250000"/>
            <a:ext cx="1368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통합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398000" y="3240000"/>
            <a:ext cx="1548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이동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정렬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조작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560000" y="4050000"/>
            <a:ext cx="1224000" cy="72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752400" y="2858400"/>
            <a:ext cx="151200" cy="151200"/>
          </a:xfrm>
          <a:prstGeom prst="ellipse">
            <a:avLst/>
          </a:prstGeom>
          <a:solidFill>
            <a:srgbClr val="ef5a3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144000" y="1962000"/>
            <a:ext cx="136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00" spc="15" strike="noStrike">
                <a:solidFill>
                  <a:srgbClr val="ef5a3c"/>
                </a:solidFill>
                <a:latin typeface="Courier New"/>
                <a:ea typeface="Courier New"/>
              </a:rPr>
              <a:t>G4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144000" y="2250000"/>
            <a:ext cx="1368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복구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054000" y="3240000"/>
            <a:ext cx="1548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미끄럼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넘침 주입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216000" y="4050000"/>
            <a:ext cx="1224000" cy="86400"/>
          </a:xfrm>
          <a:prstGeom prst="rect">
            <a:avLst/>
          </a:prstGeom>
          <a:solidFill>
            <a:srgbClr val="ef5a3c"/>
          </a:solidFill>
          <a:ln w="0">
            <a:noFill/>
          </a:ln>
        </p:spPr>
        <p:txBody>
          <a:bodyPr lIns="90000" rIns="90000" tIns="41400" bIns="41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40000" y="4788000"/>
            <a:ext cx="10656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0000" y="5076000"/>
            <a:ext cx="2088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15" strike="noStrike">
                <a:solidFill>
                  <a:srgbClr val="0057d9"/>
                </a:solidFill>
                <a:latin typeface="Courier New"/>
                <a:ea typeface="Courier New"/>
              </a:rPr>
              <a:t>DAILY SYNC / 10 MIN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844000" y="5004000"/>
            <a:ext cx="151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오늘 배운 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932000" y="5004000"/>
            <a:ext cx="151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실측 결과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020000" y="5004000"/>
            <a:ext cx="151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막힌 지점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9108000" y="5004000"/>
            <a:ext cx="151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다음 행동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0000" y="234000"/>
            <a:ext cx="1296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15" strike="noStrike">
                <a:solidFill>
                  <a:srgbClr val="0b1220"/>
                </a:solidFill>
                <a:latin typeface="Noto Sans CJK KR"/>
                <a:ea typeface="Noto Sans CJK KR"/>
              </a:rPr>
              <a:t>HANDOVER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40000" y="432000"/>
            <a:ext cx="144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15" strike="noStrike">
                <a:solidFill>
                  <a:srgbClr val="667085"/>
                </a:solidFill>
                <a:latin typeface="Courier New"/>
                <a:ea typeface="Courier New"/>
              </a:rPr>
              <a:t>HOLD THE FLOW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936000" y="252000"/>
            <a:ext cx="1296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900" spc="4" strike="noStrike">
                <a:solidFill>
                  <a:srgbClr val="667085"/>
                </a:solidFill>
                <a:latin typeface="Courier New"/>
                <a:ea typeface="Courier New"/>
              </a:rPr>
              <a:t>05 / 05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1628000" y="468000"/>
            <a:ext cx="25200" cy="5580000"/>
          </a:xfrm>
          <a:prstGeom prst="rect">
            <a:avLst/>
          </a:prstGeom>
          <a:solidFill>
            <a:srgbClr val="d8e0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1628000" y="468000"/>
            <a:ext cx="25200" cy="5580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1574000" y="417600"/>
            <a:ext cx="133200" cy="133200"/>
          </a:xfrm>
          <a:prstGeom prst="ellipse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40000" y="6415200"/>
            <a:ext cx="3780000" cy="11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15" strike="noStrike">
                <a:solidFill>
                  <a:srgbClr val="667085"/>
                </a:solidFill>
                <a:latin typeface="Courier New"/>
                <a:ea typeface="Courier New"/>
              </a:rPr>
              <a:t>BIMANUAL POURING ROBOT · 2026.08.28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40000" y="792000"/>
            <a:ext cx="10512000" cy="64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역할은 나누고</a:t>
            </a:r>
            <a:r>
              <a:rPr b="1" lang="en-US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, </a:t>
            </a:r>
            <a:r>
              <a:rPr b="1" lang="zh-CN" sz="3500" spc="253" strike="noStrike">
                <a:solidFill>
                  <a:srgbClr val="0b1220"/>
                </a:solidFill>
                <a:latin typeface="Noto Serif CJK KR"/>
                <a:ea typeface="Noto Serif CJK KR"/>
              </a:rPr>
              <a:t>성공 기준은 맞춘다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40000" y="1458000"/>
            <a:ext cx="7920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세 사람이 같은 상태 정의와 실험표를 공유한다</a:t>
            </a:r>
            <a:r>
              <a:rPr b="0" lang="en-US" sz="1700" spc="66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40000" y="1872000"/>
            <a:ext cx="64800" cy="882000"/>
          </a:xfrm>
          <a:prstGeom prst="rect">
            <a:avLst/>
          </a:prstGeom>
          <a:solidFill>
            <a:srgbClr val="0057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92000" y="1915200"/>
            <a:ext cx="1296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700" spc="15" strike="noStrike">
                <a:solidFill>
                  <a:srgbClr val="0057d9"/>
                </a:solidFill>
                <a:latin typeface="Noto Sans CJK KR"/>
                <a:ea typeface="Noto Sans CJK KR"/>
              </a:rPr>
              <a:t>강사 </a:t>
            </a:r>
            <a:r>
              <a:rPr b="1" lang="en-US" sz="1700" spc="15" strike="noStrike">
                <a:solidFill>
                  <a:srgbClr val="0057d9"/>
                </a:solidFill>
                <a:latin typeface="Noto Sans CJK KR"/>
                <a:ea typeface="Noto Sans CJK KR"/>
              </a:rPr>
              <a:t>/ </a:t>
            </a:r>
            <a:r>
              <a:rPr b="1" lang="zh-CN" sz="1700" spc="15" strike="noStrike">
                <a:solidFill>
                  <a:srgbClr val="0057d9"/>
                </a:solidFill>
                <a:latin typeface="Noto Sans CJK KR"/>
                <a:ea typeface="Noto Sans CJK KR"/>
              </a:rPr>
              <a:t>멘토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232000" y="1900800"/>
            <a:ext cx="540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로컬 </a:t>
            </a:r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LLM 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기술 교육 </a:t>
            </a:r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통합 게이트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232000" y="2214000"/>
            <a:ext cx="5400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실패 상태를 읽고 허용된 복구 스킬만 선택한다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92000" y="2682000"/>
            <a:ext cx="6912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40000" y="3024000"/>
            <a:ext cx="64800" cy="882000"/>
          </a:xfrm>
          <a:prstGeom prst="rect">
            <a:avLst/>
          </a:prstGeom>
          <a:solidFill>
            <a:srgbClr val="ef5a3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92000" y="3067200"/>
            <a:ext cx="1296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700" spc="15" strike="noStrike">
                <a:solidFill>
                  <a:srgbClr val="ef5a3c"/>
                </a:solidFill>
                <a:latin typeface="Noto Sans CJK KR"/>
                <a:ea typeface="Noto Sans CJK KR"/>
              </a:rPr>
              <a:t>사용자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232000" y="3052800"/>
            <a:ext cx="540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SLAM / Nav2 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작업대 접근 </a:t>
            </a:r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전체 통합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232000" y="3366000"/>
            <a:ext cx="5400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반복 접근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, 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로컬 정렬 인계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, 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이동 로그를 담당한다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92000" y="3834000"/>
            <a:ext cx="6912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40000" y="4176000"/>
            <a:ext cx="64800" cy="882000"/>
          </a:xfrm>
          <a:prstGeom prst="rect">
            <a:avLst/>
          </a:prstGeom>
          <a:solidFill>
            <a:srgbClr val="6558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92000" y="4219200"/>
            <a:ext cx="12960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700" spc="15" strike="noStrike">
                <a:solidFill>
                  <a:srgbClr val="6558f5"/>
                </a:solidFill>
                <a:latin typeface="Noto Sans CJK KR"/>
                <a:ea typeface="Noto Sans CJK KR"/>
              </a:rPr>
              <a:t>다른 팀원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232000" y="4204800"/>
            <a:ext cx="540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ACT / IK 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그리퍼 </a:t>
            </a:r>
            <a:r>
              <a:rPr b="1" lang="en-US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· </a:t>
            </a:r>
            <a:r>
              <a:rPr b="1" lang="zh-CN" sz="2100" spc="18" strike="noStrike">
                <a:solidFill>
                  <a:srgbClr val="0b1220"/>
                </a:solidFill>
                <a:latin typeface="Noto Sans CJK KR"/>
                <a:ea typeface="Noto Sans CJK KR"/>
              </a:rPr>
              <a:t>실물 데이터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232000" y="4518000"/>
            <a:ext cx="5400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파지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붓기 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POC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와 접촉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·</a:t>
            </a:r>
            <a:r>
              <a:rPr b="0" lang="zh-CN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중량 데이터를 기록한다</a:t>
            </a:r>
            <a:r>
              <a:rPr b="0" lang="en-US" sz="1400" spc="7" strike="noStrike">
                <a:solidFill>
                  <a:srgbClr val="667085"/>
                </a:solidFill>
                <a:latin typeface="Noto Sans CJK KR"/>
                <a:ea typeface="Noto Sans CJK KR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92000" y="4986000"/>
            <a:ext cx="6912000" cy="0"/>
          </a:xfrm>
          <a:prstGeom prst="line">
            <a:avLst/>
          </a:prstGeom>
          <a:ln w="72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8316000" y="1746000"/>
            <a:ext cx="2880000" cy="3744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604000" y="1980000"/>
            <a:ext cx="216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15" strike="noStrike">
                <a:solidFill>
                  <a:srgbClr val="42b8ff"/>
                </a:solidFill>
                <a:latin typeface="Courier New"/>
                <a:ea typeface="Courier New"/>
              </a:rPr>
              <a:t>SUCCESS GATE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604000" y="2376000"/>
            <a:ext cx="2232000" cy="65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15" strike="noStrike">
                <a:solidFill>
                  <a:srgbClr val="ffffff"/>
                </a:solidFill>
                <a:latin typeface="Noto Serif CJK KR"/>
                <a:ea typeface="Noto Serif CJK KR"/>
              </a:rPr>
              <a:t>09.15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8604000" y="2826000"/>
            <a:ext cx="216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100" spc="15" strike="noStrike">
                <a:solidFill>
                  <a:srgbClr val="ffffff"/>
                </a:solidFill>
                <a:latin typeface="Noto Sans CJK KR"/>
                <a:ea typeface="Noto Sans CJK KR"/>
              </a:rPr>
              <a:t>실물 게이트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604000" y="3222000"/>
            <a:ext cx="2232000" cy="0"/>
          </a:xfrm>
          <a:prstGeom prst="line">
            <a:avLst/>
          </a:prstGeom>
          <a:ln w="9000">
            <a:solidFill>
              <a:srgbClr val="4652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8604000" y="3384000"/>
            <a:ext cx="576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500" spc="12" strike="noStrike">
                <a:solidFill>
                  <a:srgbClr val="9fc0ff"/>
                </a:solidFill>
                <a:latin typeface="Noto Sans CJK KR"/>
                <a:ea typeface="Noto Sans CJK KR"/>
              </a:rPr>
              <a:t>접근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9252000" y="3384000"/>
            <a:ext cx="1584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반복 위치</a:t>
            </a:r>
            <a:r>
              <a:rPr b="0" lang="en-US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·</a:t>
            </a:r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인계 로그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8604000" y="3780000"/>
            <a:ext cx="576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500" spc="12" strike="noStrike">
                <a:solidFill>
                  <a:srgbClr val="9fc0ff"/>
                </a:solidFill>
                <a:latin typeface="Noto Sans CJK KR"/>
                <a:ea typeface="Noto Sans CJK KR"/>
              </a:rPr>
              <a:t>파지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9252000" y="3780000"/>
            <a:ext cx="1584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접촉값</a:t>
            </a:r>
            <a:r>
              <a:rPr b="0" lang="en-US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·</a:t>
            </a:r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미끄럼 상태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8604000" y="4176000"/>
            <a:ext cx="57600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500" spc="12" strike="noStrike">
                <a:solidFill>
                  <a:srgbClr val="9fc0ff"/>
                </a:solidFill>
                <a:latin typeface="Noto Sans CJK KR"/>
                <a:ea typeface="Noto Sans CJK KR"/>
              </a:rPr>
              <a:t>붓기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252000" y="4176000"/>
            <a:ext cx="158400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중량 변화</a:t>
            </a:r>
            <a:r>
              <a:rPr b="0" lang="en-US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·</a:t>
            </a:r>
            <a:r>
              <a:rPr b="0" lang="zh-CN" sz="1300" spc="4" strike="noStrike">
                <a:solidFill>
                  <a:srgbClr val="ffffff"/>
                </a:solidFill>
                <a:latin typeface="Noto Sans CJK KR"/>
                <a:ea typeface="Noto Sans CJK KR"/>
              </a:rPr>
              <a:t>넘침 여부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604000" y="4824000"/>
            <a:ext cx="234000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4" strike="noStrike">
                <a:solidFill>
                  <a:srgbClr val="c4cdd9"/>
                </a:solidFill>
                <a:latin typeface="Noto Sans CJK KR"/>
                <a:ea typeface="Noto Sans CJK KR"/>
              </a:rPr>
              <a:t>통과 조건만 구현에 반영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2026-08-28T15:26:38Z</dcterms:created>
  <dc:creator/>
  <dc:description/>
  <dc:language>en-US</dc:language>
  <cp:lastModifiedBy/>
  <dcterms:modified xsi:type="dcterms:W3CDTF">2026-08-28T15:26:39Z</dcterms:modified>
  <cp:revision>1</cp:revision>
  <dc:subject/>
  <dc:title/>
</cp:coreProperties>
</file>