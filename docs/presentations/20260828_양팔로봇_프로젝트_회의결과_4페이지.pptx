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EA9207C-7AEF-4354-BD1C-DC5ED9B60A6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회의 결론을 먼저 말한다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두 시나리오를 경쟁시키되 기반 기술은 공유한다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Internal meeting transcript, 2026-08-28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[/Sources]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Plan A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포트폴리오 메인으로 권고한다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Plan B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에이전틱 복구의 성공 여부를 짧은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POC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확인한다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https://arxiv.org/abs/2304.13705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https://arxiv.org/abs/2304.04558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https://arxiv.org/abs/2310.18473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[/Sources]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LLM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을 실패 복구 감독자로 한정한다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정상 경로는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LLM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없이도 동작해야 한다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https://arxiv.org/abs/2207.05608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https://docs.nav2.org/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https://arxiv.org/abs/2112.06374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[/Sources]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현재 확정된 역할과 잠정 역할을 구분해 설명한다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다른 팀원의 전담은 다음 회의에서 다시 확인한다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Internal meeting transcript, 2026-08-28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https://proceedings.mlr.press/v270/chernyadev25a.html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[/Sources]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EDE637-CD4C-46E8-AA3E-ED0E510C8A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6004F6-EF2C-4BC1-B0A7-DCECD10140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5813F0F-54A5-47AF-9F5C-F2F409E2672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11600" cy="6858000"/>
          </a:xfrm>
          <a:prstGeom prst="rect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0908000" y="6426000"/>
            <a:ext cx="900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900" spc="-1" strike="noStrike">
                <a:solidFill>
                  <a:srgbClr val="667085"/>
                </a:solidFill>
                <a:latin typeface="Courier New"/>
              </a:rPr>
              <a:t>01 / 04</a:t>
            </a:r>
            <a:endParaRPr b="1" lang="en-US" sz="900" spc="-1" strike="noStrike">
              <a:solidFill>
                <a:srgbClr val="667085"/>
              </a:solidFill>
              <a:latin typeface="Courier New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486000" y="324000"/>
            <a:ext cx="1872000" cy="28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2457f5"/>
                </a:solidFill>
                <a:latin typeface="Courier New"/>
              </a:rPr>
              <a:t>2026 · BIMANUAL ROBOTICS PROJECT / MEETING RESULT</a:t>
            </a:r>
            <a:endParaRPr b="1" lang="en-US" sz="1000" spc="-1" strike="noStrike">
              <a:solidFill>
                <a:srgbClr val="2457f5"/>
              </a:solidFill>
              <a:latin typeface="Courier New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86000" y="720000"/>
            <a:ext cx="6336000" cy="23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4300" spc="-1" strike="noStrike">
                <a:solidFill>
                  <a:srgbClr val="111318"/>
                </a:solidFill>
                <a:latin typeface="Noto Sans CJK KR"/>
              </a:rPr>
              <a:t>이동하고</a:t>
            </a:r>
            <a:r>
              <a:rPr b="1" lang="en-US" sz="4300" spc="-1" strike="noStrike">
                <a:solidFill>
                  <a:srgbClr val="111318"/>
                </a:solidFill>
                <a:latin typeface="Noto Sans CJK KR"/>
              </a:rPr>
              <a:t>,</a:t>
            </a:r>
            <a:endParaRPr b="1" lang="en-US" sz="4300" spc="-1" strike="noStrike">
              <a:solidFill>
                <a:srgbClr val="111318"/>
              </a:solidFill>
              <a:latin typeface="Noto Sans CJK KR"/>
            </a:endParaRPr>
          </a:p>
          <a:p>
            <a:r>
              <a:rPr b="1" lang="zh-CN" sz="4300" spc="-1" strike="noStrike">
                <a:solidFill>
                  <a:srgbClr val="111318"/>
                </a:solidFill>
                <a:latin typeface="Noto Sans CJK KR"/>
              </a:rPr>
              <a:t>양팔로 작업하고</a:t>
            </a:r>
            <a:r>
              <a:rPr b="1" lang="en-US" sz="4300" spc="-1" strike="noStrike">
                <a:solidFill>
                  <a:srgbClr val="111318"/>
                </a:solidFill>
                <a:latin typeface="Noto Sans CJK KR"/>
              </a:rPr>
              <a:t>,</a:t>
            </a:r>
            <a:endParaRPr b="1" lang="en-US" sz="4300" spc="-1" strike="noStrike">
              <a:solidFill>
                <a:srgbClr val="111318"/>
              </a:solidFill>
              <a:latin typeface="Noto Sans CJK KR"/>
            </a:endParaRPr>
          </a:p>
          <a:p>
            <a:r>
              <a:rPr b="1" lang="zh-CN" sz="4300" spc="-1" strike="noStrike">
                <a:solidFill>
                  <a:srgbClr val="111318"/>
                </a:solidFill>
                <a:latin typeface="Noto Sans CJK KR"/>
              </a:rPr>
              <a:t>실패를 복구한다</a:t>
            </a:r>
            <a:r>
              <a:rPr b="1" lang="en-US" sz="4300" spc="-1" strike="noStrike">
                <a:solidFill>
                  <a:srgbClr val="111318"/>
                </a:solidFill>
                <a:latin typeface="Noto Sans CJK KR"/>
              </a:rPr>
              <a:t>.</a:t>
            </a:r>
            <a:endParaRPr b="1" lang="en-US" sz="43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22000" y="2736000"/>
            <a:ext cx="5760000" cy="69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900" spc="-1" strike="noStrike">
                <a:solidFill>
                  <a:srgbClr val="667085"/>
                </a:solidFill>
                <a:latin typeface="Noto Sans CJK KR"/>
              </a:rPr>
              <a:t>봉지와 비정형 물병을 함께 기초검증한 뒤</a:t>
            </a:r>
            <a:r>
              <a:rPr b="0" lang="en-US" sz="1900" spc="-1" strike="noStrike">
                <a:solidFill>
                  <a:srgbClr val="667085"/>
                </a:solidFill>
                <a:latin typeface="Noto Sans CJK KR"/>
              </a:rPr>
              <a:t>,</a:t>
            </a:r>
            <a:endParaRPr b="0" lang="en-US" sz="1900" spc="-1" strike="noStrike">
              <a:solidFill>
                <a:srgbClr val="667085"/>
              </a:solidFill>
              <a:latin typeface="Noto Sans CJK KR"/>
            </a:endParaRPr>
          </a:p>
          <a:p>
            <a:r>
              <a:rPr b="0" lang="zh-CN" sz="1900" spc="-1" strike="noStrike">
                <a:solidFill>
                  <a:srgbClr val="667085"/>
                </a:solidFill>
                <a:latin typeface="Noto Sans CJK KR"/>
              </a:rPr>
              <a:t>실물 데이터로 메인 시나리오를 고른다</a:t>
            </a:r>
            <a:r>
              <a:rPr b="0" lang="en-US" sz="1900" spc="-1" strike="noStrike">
                <a:solidFill>
                  <a:srgbClr val="667085"/>
                </a:solidFill>
                <a:latin typeface="Noto Sans CJK KR"/>
              </a:rPr>
              <a:t>.</a:t>
            </a:r>
            <a:endParaRPr b="0" lang="en-US" sz="1900" spc="-1" strike="noStrike">
              <a:solidFill>
                <a:srgbClr val="667085"/>
              </a:solidFill>
              <a:latin typeface="Noto Sans CJK KR"/>
            </a:endParaRPr>
          </a:p>
        </p:txBody>
      </p:sp>
      <p:sp>
        <p:nvSpPr>
          <p:cNvPr id="19" name=""/>
          <p:cNvSpPr/>
          <p:nvPr/>
        </p:nvSpPr>
        <p:spPr>
          <a:xfrm>
            <a:off x="486000" y="3744000"/>
            <a:ext cx="5688000" cy="882000"/>
          </a:xfrm>
          <a:prstGeom prst="roundRect">
            <a:avLst/>
          </a:prstGeom>
          <a:solidFill>
            <a:srgbClr val="f4f6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30000" y="3898800"/>
            <a:ext cx="630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2457f5"/>
                </a:solidFill>
                <a:latin typeface="Courier New"/>
              </a:rPr>
              <a:t>PLAN A</a:t>
            </a:r>
            <a:endParaRPr b="1" lang="en-US" sz="1000" spc="-1" strike="noStrike">
              <a:solidFill>
                <a:srgbClr val="2457f5"/>
              </a:solidFill>
              <a:latin typeface="Courier New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30000" y="4104000"/>
            <a:ext cx="216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000" spc="-1" strike="noStrike">
                <a:solidFill>
                  <a:srgbClr val="111318"/>
                </a:solidFill>
                <a:latin typeface="Noto Sans CJK KR"/>
              </a:rPr>
              <a:t>이동형 물병 붓기</a:t>
            </a:r>
            <a:endParaRPr b="1" lang="en-US" sz="20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22" name=""/>
          <p:cNvSpPr/>
          <p:nvPr/>
        </p:nvSpPr>
        <p:spPr>
          <a:xfrm>
            <a:off x="2952000" y="3895200"/>
            <a:ext cx="12600" cy="540000"/>
          </a:xfrm>
          <a:prstGeom prst="rect">
            <a:avLst/>
          </a:prstGeom>
          <a:solidFill>
            <a:srgbClr val="dde2e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3150000" y="3898800"/>
            <a:ext cx="630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e5782a"/>
                </a:solidFill>
                <a:latin typeface="Courier New"/>
              </a:rPr>
              <a:t>PLAN B</a:t>
            </a:r>
            <a:endParaRPr b="1" lang="en-US" sz="1000" spc="-1" strike="noStrike">
              <a:solidFill>
                <a:srgbClr val="e5782a"/>
              </a:solidFill>
              <a:latin typeface="Courier New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150000" y="4104000"/>
            <a:ext cx="216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000" spc="-1" strike="noStrike">
                <a:solidFill>
                  <a:srgbClr val="111318"/>
                </a:solidFill>
                <a:latin typeface="Noto Sans CJK KR"/>
              </a:rPr>
              <a:t>봉지 열어 물체 담기</a:t>
            </a:r>
            <a:endParaRPr b="1" lang="en-US" sz="20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22000" y="5058000"/>
            <a:ext cx="5904000" cy="54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500" spc="-1" strike="noStrike">
                <a:solidFill>
                  <a:srgbClr val="111318"/>
                </a:solidFill>
                <a:latin typeface="Courier New"/>
              </a:rPr>
              <a:t>전제  </a:t>
            </a:r>
            <a:r>
              <a:rPr b="1" lang="en-US" sz="1500" spc="-1" strike="noStrike">
                <a:solidFill>
                  <a:srgbClr val="111318"/>
                </a:solidFill>
                <a:latin typeface="Courier New"/>
              </a:rPr>
              <a:t>·  VLA </a:t>
            </a:r>
            <a:r>
              <a:rPr b="1" lang="zh-CN" sz="1500" spc="-1" strike="noStrike">
                <a:solidFill>
                  <a:srgbClr val="111318"/>
                </a:solidFill>
                <a:latin typeface="Courier New"/>
              </a:rPr>
              <a:t>중심 </a:t>
            </a:r>
            <a:r>
              <a:rPr b="1" lang="en-US" sz="1500" spc="-1" strike="noStrike">
                <a:solidFill>
                  <a:srgbClr val="111318"/>
                </a:solidFill>
                <a:latin typeface="Courier New"/>
              </a:rPr>
              <a:t>X   ·   LLM </a:t>
            </a:r>
            <a:r>
              <a:rPr b="1" lang="zh-CN" sz="1500" spc="-1" strike="noStrike">
                <a:solidFill>
                  <a:srgbClr val="111318"/>
                </a:solidFill>
                <a:latin typeface="Courier New"/>
              </a:rPr>
              <a:t>모터제어 </a:t>
            </a:r>
            <a:r>
              <a:rPr b="1" lang="en-US" sz="1500" spc="-1" strike="noStrike">
                <a:solidFill>
                  <a:srgbClr val="111318"/>
                </a:solidFill>
                <a:latin typeface="Courier New"/>
              </a:rPr>
              <a:t>X</a:t>
            </a:r>
            <a:endParaRPr b="1" lang="en-US" sz="1500" spc="-1" strike="noStrike">
              <a:solidFill>
                <a:srgbClr val="111318"/>
              </a:solidFill>
              <a:latin typeface="Courier New"/>
            </a:endParaRPr>
          </a:p>
          <a:p>
            <a:r>
              <a:rPr b="1" lang="en-US" sz="1500" spc="-1" strike="noStrike">
                <a:solidFill>
                  <a:srgbClr val="111318"/>
                </a:solidFill>
                <a:latin typeface="Courier New"/>
              </a:rPr>
              <a:t>         </a:t>
            </a:r>
            <a:r>
              <a:rPr b="1" lang="en-US" sz="1500" spc="-1" strike="noStrike">
                <a:solidFill>
                  <a:srgbClr val="111318"/>
                </a:solidFill>
                <a:latin typeface="Courier New"/>
              </a:rPr>
              <a:t>SLAM + ACT/IK + Depth + Sensor</a:t>
            </a:r>
            <a:endParaRPr b="1" lang="en-US" sz="1500" spc="-1" strike="noStrike">
              <a:solidFill>
                <a:srgbClr val="111318"/>
              </a:solidFill>
              <a:latin typeface="Courier New"/>
            </a:endParaRPr>
          </a:p>
        </p:txBody>
      </p:sp>
      <p:sp>
        <p:nvSpPr>
          <p:cNvPr id="26" name=""/>
          <p:cNvSpPr/>
          <p:nvPr/>
        </p:nvSpPr>
        <p:spPr>
          <a:xfrm>
            <a:off x="8010000" y="4788000"/>
            <a:ext cx="3096000" cy="424800"/>
          </a:xfrm>
          <a:prstGeom prst="roundRect">
            <a:avLst/>
          </a:prstGeom>
          <a:solidFill>
            <a:srgbClr val="11131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8352000" y="5094000"/>
            <a:ext cx="414000" cy="414000"/>
          </a:xfrm>
          <a:prstGeom prst="ellipse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10368000" y="5094000"/>
            <a:ext cx="414000" cy="414000"/>
          </a:xfrm>
          <a:prstGeom prst="ellipse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9162000" y="3096000"/>
            <a:ext cx="756000" cy="1728000"/>
          </a:xfrm>
          <a:prstGeom prst="rect">
            <a:avLst/>
          </a:prstGeom>
          <a:solidFill>
            <a:srgbClr val="f4f6f9"/>
          </a:solidFill>
          <a:ln w="16200">
            <a:solidFill>
              <a:srgbClr val="111318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9324000" y="2916000"/>
            <a:ext cx="432000" cy="432000"/>
          </a:xfrm>
          <a:prstGeom prst="ellipse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8064000" y="2628000"/>
            <a:ext cx="1224000" cy="612000"/>
          </a:xfrm>
          <a:prstGeom prst="line">
            <a:avLst/>
          </a:prstGeom>
          <a:ln w="68400">
            <a:solidFill>
              <a:srgbClr val="1113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4200" rIns="124200" tIns="79200" bIns="79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7848000" y="2430000"/>
            <a:ext cx="432000" cy="432000"/>
          </a:xfrm>
          <a:prstGeom prst="ellipse">
            <a:avLst/>
          </a:prstGeom>
          <a:solidFill>
            <a:srgbClr val="ffffff"/>
          </a:solidFill>
          <a:ln w="46800">
            <a:solidFill>
              <a:srgbClr val="2457f5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7128000" y="2628000"/>
            <a:ext cx="936000" cy="900000"/>
          </a:xfrm>
          <a:prstGeom prst="line">
            <a:avLst/>
          </a:prstGeom>
          <a:ln w="68400">
            <a:solidFill>
              <a:srgbClr val="1113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4200" rIns="124200" tIns="79200" bIns="79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840000" y="3402000"/>
            <a:ext cx="504000" cy="252000"/>
          </a:xfrm>
          <a:prstGeom prst="roundRect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9756000" y="2646000"/>
            <a:ext cx="1008000" cy="594000"/>
          </a:xfrm>
          <a:prstGeom prst="line">
            <a:avLst/>
          </a:prstGeom>
          <a:ln w="68400">
            <a:solidFill>
              <a:srgbClr val="1113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4200" rIns="124200" tIns="79200" bIns="79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10548000" y="2448000"/>
            <a:ext cx="432000" cy="432000"/>
          </a:xfrm>
          <a:prstGeom prst="ellipse">
            <a:avLst/>
          </a:prstGeom>
          <a:solidFill>
            <a:srgbClr val="ffffff"/>
          </a:solidFill>
          <a:ln w="46800">
            <a:solidFill>
              <a:srgbClr val="2457f5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0764000" y="2646000"/>
            <a:ext cx="612000" cy="990000"/>
          </a:xfrm>
          <a:prstGeom prst="line">
            <a:avLst/>
          </a:prstGeom>
          <a:ln w="68400">
            <a:solidFill>
              <a:srgbClr val="1113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4200" rIns="124200" tIns="79200" bIns="79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1160000" y="3564000"/>
            <a:ext cx="540000" cy="244800"/>
          </a:xfrm>
          <a:prstGeom prst="roundRect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606000" y="3996000"/>
            <a:ext cx="828000" cy="1188000"/>
          </a:xfrm>
          <a:prstGeom prst="roundRect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6724800" y="4266000"/>
            <a:ext cx="612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/>
            <a:r>
              <a:rPr b="1" lang="zh-CN" sz="2200" spc="-1" strike="noStrike">
                <a:solidFill>
                  <a:srgbClr val="ffffff"/>
                </a:solidFill>
                <a:latin typeface="Noto Sans CJK KR"/>
              </a:rPr>
              <a:t>병</a:t>
            </a:r>
            <a:endParaRPr b="1" lang="en-US" sz="2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41" name=""/>
          <p:cNvSpPr/>
          <p:nvPr/>
        </p:nvSpPr>
        <p:spPr>
          <a:xfrm>
            <a:off x="11106000" y="4212000"/>
            <a:ext cx="720000" cy="972000"/>
          </a:xfrm>
          <a:prstGeom prst="roundRect">
            <a:avLst/>
          </a:prstGeom>
          <a:solidFill>
            <a:srgbClr val="ffffff"/>
          </a:solidFill>
          <a:ln w="25200">
            <a:solidFill>
              <a:srgbClr val="111318"/>
            </a:solidFill>
            <a:round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1196000" y="4464000"/>
            <a:ext cx="54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/>
            <a:r>
              <a:rPr b="1" lang="zh-CN" sz="2000" spc="-1" strike="noStrike">
                <a:solidFill>
                  <a:srgbClr val="111318"/>
                </a:solidFill>
                <a:latin typeface="Noto Sans CJK KR"/>
              </a:rPr>
              <a:t>컵</a:t>
            </a:r>
            <a:endParaRPr b="1" lang="en-US" sz="20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43" name=""/>
          <p:cNvSpPr/>
          <p:nvPr/>
        </p:nvSpPr>
        <p:spPr>
          <a:xfrm>
            <a:off x="6912000" y="5580000"/>
            <a:ext cx="4788000" cy="324000"/>
          </a:xfrm>
          <a:prstGeom prst="roundRect">
            <a:avLst/>
          </a:prstGeom>
          <a:solidFill>
            <a:srgbClr val="f4f6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7056000" y="5659200"/>
            <a:ext cx="450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600" spc="-1" strike="noStrike">
                <a:solidFill>
                  <a:srgbClr val="111318"/>
                </a:solidFill>
                <a:latin typeface="Noto Sans CJK KR"/>
              </a:rPr>
              <a:t>SLAM  →  </a:t>
            </a:r>
            <a:r>
              <a:rPr b="1" lang="zh-CN" sz="1600" spc="-1" strike="noStrike">
                <a:solidFill>
                  <a:srgbClr val="111318"/>
                </a:solidFill>
                <a:latin typeface="Noto Sans CJK KR"/>
              </a:rPr>
              <a:t>양팔 조작  →  실패 복구</a:t>
            </a:r>
            <a:endParaRPr b="1" lang="en-US" sz="16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86000" y="6516000"/>
            <a:ext cx="10296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20" spc="-1" strike="noStrike">
                <a:solidFill>
                  <a:srgbClr val="667085"/>
                </a:solidFill>
                <a:latin typeface="Arial"/>
              </a:rPr>
              <a:t>Source: 2026-08-28 </a:t>
            </a:r>
            <a:r>
              <a:rPr b="0" lang="zh-CN" sz="620" spc="-1" strike="noStrike">
                <a:solidFill>
                  <a:srgbClr val="667085"/>
                </a:solidFill>
                <a:latin typeface="Arial"/>
              </a:rPr>
              <a:t>팀 회의 정리 </a:t>
            </a:r>
            <a:r>
              <a:rPr b="0" lang="en-US" sz="620" spc="-1" strike="noStrike">
                <a:solidFill>
                  <a:srgbClr val="667085"/>
                </a:solidFill>
                <a:latin typeface="Arial"/>
              </a:rPr>
              <a:t>· </a:t>
            </a:r>
            <a:r>
              <a:rPr b="0" lang="zh-CN" sz="620" spc="-1" strike="noStrike">
                <a:solidFill>
                  <a:srgbClr val="667085"/>
                </a:solidFill>
                <a:latin typeface="Arial"/>
              </a:rPr>
              <a:t>내부 실물 제약 분석</a:t>
            </a:r>
            <a:endParaRPr b="0" lang="en-US" sz="620" spc="-1" strike="noStrike">
              <a:solidFill>
                <a:srgbClr val="667085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0" y="0"/>
            <a:ext cx="111600" cy="6858000"/>
          </a:xfrm>
          <a:prstGeom prst="rect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0908000" y="6426000"/>
            <a:ext cx="900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900" spc="-1" strike="noStrike">
                <a:solidFill>
                  <a:srgbClr val="667085"/>
                </a:solidFill>
                <a:latin typeface="Courier New"/>
              </a:rPr>
              <a:t>02 / 04</a:t>
            </a:r>
            <a:endParaRPr b="1" lang="en-US" sz="900" spc="-1" strike="noStrike">
              <a:solidFill>
                <a:srgbClr val="667085"/>
              </a:solidFill>
              <a:latin typeface="Courier New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486000" y="324000"/>
            <a:ext cx="1872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2457f5"/>
                </a:solidFill>
                <a:latin typeface="Courier New"/>
              </a:rPr>
              <a:t>SCENARIO COMPARISON</a:t>
            </a:r>
            <a:endParaRPr b="1" lang="en-US" sz="1000" spc="-1" strike="noStrike">
              <a:solidFill>
                <a:srgbClr val="2457f5"/>
              </a:solidFill>
              <a:latin typeface="Courier New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486000" y="630000"/>
            <a:ext cx="8640000" cy="66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3600" spc="-1" strike="noStrike">
                <a:solidFill>
                  <a:srgbClr val="111318"/>
                </a:solidFill>
                <a:latin typeface="Noto Sans CJK KR"/>
              </a:rPr>
              <a:t>두 시나리오</a:t>
            </a:r>
            <a:r>
              <a:rPr b="1" lang="en-US" sz="3600" spc="-1" strike="noStrike">
                <a:solidFill>
                  <a:srgbClr val="111318"/>
                </a:solidFill>
                <a:latin typeface="Noto Sans CJK KR"/>
              </a:rPr>
              <a:t>, </a:t>
            </a:r>
            <a:r>
              <a:rPr b="1" lang="zh-CN" sz="3600" spc="-1" strike="noStrike">
                <a:solidFill>
                  <a:srgbClr val="111318"/>
                </a:solidFill>
                <a:latin typeface="Noto Sans CJK KR"/>
              </a:rPr>
              <a:t>하나의 기반 기술</a:t>
            </a:r>
            <a:endParaRPr b="1" lang="en-US" sz="36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86000" y="1098000"/>
            <a:ext cx="900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800" spc="-1" strike="noStrike">
                <a:solidFill>
                  <a:srgbClr val="667085"/>
                </a:solidFill>
                <a:latin typeface="Noto Sans CJK KR"/>
              </a:rPr>
              <a:t>물병은 전체 시스템 데모에 강하고</a:t>
            </a:r>
            <a:r>
              <a:rPr b="0" lang="en-US" sz="1800" spc="-1" strike="noStrike">
                <a:solidFill>
                  <a:srgbClr val="667085"/>
                </a:solidFill>
                <a:latin typeface="Noto Sans CJK KR"/>
              </a:rPr>
              <a:t>, </a:t>
            </a:r>
            <a:r>
              <a:rPr b="0" lang="zh-CN" sz="1800" spc="-1" strike="noStrike">
                <a:solidFill>
                  <a:srgbClr val="667085"/>
                </a:solidFill>
                <a:latin typeface="Noto Sans CJK KR"/>
              </a:rPr>
              <a:t>봉지는 실패 복구 데모에 강하다</a:t>
            </a:r>
            <a:r>
              <a:rPr b="0" lang="en-US" sz="1800" spc="-1" strike="noStrike">
                <a:solidFill>
                  <a:srgbClr val="667085"/>
                </a:solidFill>
                <a:latin typeface="Noto Sans CJK KR"/>
              </a:rPr>
              <a:t>.</a:t>
            </a:r>
            <a:endParaRPr b="0" lang="en-US" sz="1800" spc="-1" strike="noStrike">
              <a:solidFill>
                <a:srgbClr val="667085"/>
              </a:solidFill>
              <a:latin typeface="Noto Sans CJK KR"/>
            </a:endParaRPr>
          </a:p>
        </p:txBody>
      </p:sp>
      <p:sp>
        <p:nvSpPr>
          <p:cNvPr id="52" name=""/>
          <p:cNvSpPr/>
          <p:nvPr/>
        </p:nvSpPr>
        <p:spPr>
          <a:xfrm>
            <a:off x="486000" y="1692000"/>
            <a:ext cx="5436000" cy="3240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dde2ea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486000" y="1692000"/>
            <a:ext cx="111600" cy="3240000"/>
          </a:xfrm>
          <a:prstGeom prst="rect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756000" y="1890000"/>
            <a:ext cx="9000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2457f5"/>
                </a:solidFill>
                <a:latin typeface="Courier New"/>
              </a:rPr>
              <a:t>PLAN A</a:t>
            </a:r>
            <a:endParaRPr b="1" lang="en-US" sz="1100" spc="-1" strike="noStrike">
              <a:solidFill>
                <a:srgbClr val="2457f5"/>
              </a:solidFill>
              <a:latin typeface="Courier New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756000" y="2160000"/>
            <a:ext cx="396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600" spc="-1" strike="noStrike">
                <a:solidFill>
                  <a:srgbClr val="111318"/>
                </a:solidFill>
                <a:latin typeface="Noto Sans CJK KR"/>
              </a:rPr>
              <a:t>이동형 비정형 용기 붓기</a:t>
            </a:r>
            <a:endParaRPr b="1" lang="en-US" sz="26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56000" y="2592000"/>
            <a:ext cx="4176000" cy="16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• </a:t>
            </a:r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SLAM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으로 작업대 접근</a:t>
            </a:r>
            <a:endParaRPr b="0" lang="en-US" sz="1700" spc="-1" strike="noStrike">
              <a:solidFill>
                <a:srgbClr val="111318"/>
              </a:solidFill>
              <a:latin typeface="Noto Sans CJK KR"/>
            </a:endParaRPr>
          </a:p>
          <a:p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• 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총중량 </a:t>
            </a:r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200~300g 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용기</a:t>
            </a:r>
            <a:endParaRPr b="0" lang="en-US" sz="1700" spc="-1" strike="noStrike">
              <a:solidFill>
                <a:srgbClr val="111318"/>
              </a:solidFill>
              <a:latin typeface="Noto Sans CJK KR"/>
            </a:endParaRPr>
          </a:p>
          <a:p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• 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반대 팔이 컵 안정화</a:t>
            </a:r>
            <a:endParaRPr b="0" lang="en-US" sz="1700" spc="-1" strike="noStrike">
              <a:solidFill>
                <a:srgbClr val="111318"/>
              </a:solidFill>
              <a:latin typeface="Noto Sans CJK KR"/>
            </a:endParaRPr>
          </a:p>
          <a:p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• 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접촉 센서로 미끄럼 확인</a:t>
            </a:r>
            <a:endParaRPr b="0" lang="en-US" sz="1700" spc="-1" strike="noStrike">
              <a:solidFill>
                <a:srgbClr val="111318"/>
              </a:solidFill>
              <a:latin typeface="Noto Sans CJK KR"/>
            </a:endParaRPr>
          </a:p>
          <a:p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• 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비드</a:t>
            </a:r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·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쌀로 안전하게 시작</a:t>
            </a:r>
            <a:endParaRPr b="0" lang="en-US" sz="17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57" name=""/>
          <p:cNvSpPr/>
          <p:nvPr/>
        </p:nvSpPr>
        <p:spPr>
          <a:xfrm>
            <a:off x="756000" y="3996000"/>
            <a:ext cx="4032000" cy="540000"/>
          </a:xfrm>
          <a:prstGeom prst="roundRect">
            <a:avLst/>
          </a:prstGeom>
          <a:solidFill>
            <a:srgbClr val="f4f6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900000" y="4111200"/>
            <a:ext cx="3744000" cy="62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/>
            <a:r>
              <a:rPr b="1" lang="zh-CN" sz="1600" spc="-1" strike="noStrike">
                <a:solidFill>
                  <a:srgbClr val="2457f5"/>
                </a:solidFill>
                <a:latin typeface="Noto Sans CJK KR"/>
              </a:rPr>
              <a:t>포트폴리오 강점  </a:t>
            </a:r>
            <a:r>
              <a:rPr b="1" lang="en-US" sz="1600" spc="-1" strike="noStrike">
                <a:solidFill>
                  <a:srgbClr val="2457f5"/>
                </a:solidFill>
                <a:latin typeface="Noto Sans CJK KR"/>
              </a:rPr>
              <a:t>/  SLAM + ACT + Sensor</a:t>
            </a:r>
            <a:endParaRPr b="1" lang="en-US" sz="1600" spc="-1" strike="noStrike">
              <a:solidFill>
                <a:srgbClr val="2457f5"/>
              </a:solidFill>
              <a:latin typeface="Noto Sans CJK KR"/>
            </a:endParaRPr>
          </a:p>
        </p:txBody>
      </p:sp>
      <p:sp>
        <p:nvSpPr>
          <p:cNvPr id="59" name=""/>
          <p:cNvSpPr/>
          <p:nvPr/>
        </p:nvSpPr>
        <p:spPr>
          <a:xfrm>
            <a:off x="6264000" y="1692000"/>
            <a:ext cx="5436000" cy="3240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dde2ea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6264000" y="1692000"/>
            <a:ext cx="111600" cy="3240000"/>
          </a:xfrm>
          <a:prstGeom prst="rect">
            <a:avLst/>
          </a:prstGeom>
          <a:solidFill>
            <a:srgbClr val="e5782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534000" y="1890000"/>
            <a:ext cx="9000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e5782a"/>
                </a:solidFill>
                <a:latin typeface="Courier New"/>
              </a:rPr>
              <a:t>PLAN B</a:t>
            </a:r>
            <a:endParaRPr b="1" lang="en-US" sz="1100" spc="-1" strike="noStrike">
              <a:solidFill>
                <a:srgbClr val="e5782a"/>
              </a:solidFill>
              <a:latin typeface="Courier New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6534000" y="2160000"/>
            <a:ext cx="3960000" cy="47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600" spc="-1" strike="noStrike">
                <a:solidFill>
                  <a:srgbClr val="111318"/>
                </a:solidFill>
                <a:latin typeface="Noto Sans CJK KR"/>
              </a:rPr>
              <a:t>봉지 열기</a:t>
            </a:r>
            <a:r>
              <a:rPr b="1" lang="en-US" sz="2600" spc="-1" strike="noStrike">
                <a:solidFill>
                  <a:srgbClr val="111318"/>
                </a:solidFill>
                <a:latin typeface="Noto Sans CJK KR"/>
              </a:rPr>
              <a:t>·</a:t>
            </a:r>
            <a:r>
              <a:rPr b="1" lang="zh-CN" sz="2600" spc="-1" strike="noStrike">
                <a:solidFill>
                  <a:srgbClr val="111318"/>
                </a:solidFill>
                <a:latin typeface="Noto Sans CJK KR"/>
              </a:rPr>
              <a:t>물체 담기</a:t>
            </a:r>
            <a:endParaRPr b="1" lang="en-US" sz="26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6534000" y="2592000"/>
            <a:ext cx="4176000" cy="16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• 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양팔로 입구 개방</a:t>
            </a:r>
            <a:endParaRPr b="0" lang="en-US" sz="1700" spc="-1" strike="noStrike">
              <a:solidFill>
                <a:srgbClr val="111318"/>
              </a:solidFill>
              <a:latin typeface="Noto Sans CJK KR"/>
            </a:endParaRPr>
          </a:p>
          <a:p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• 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한 팔 유지</a:t>
            </a:r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, 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다른 팔 투입</a:t>
            </a:r>
            <a:endParaRPr b="0" lang="en-US" sz="1700" spc="-1" strike="noStrike">
              <a:solidFill>
                <a:srgbClr val="111318"/>
              </a:solidFill>
              <a:latin typeface="Noto Sans CJK KR"/>
            </a:endParaRPr>
          </a:p>
          <a:p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• 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미개방</a:t>
            </a:r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·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찢어짐</a:t>
            </a:r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·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미삽입 판정</a:t>
            </a:r>
            <a:endParaRPr b="0" lang="en-US" sz="1700" spc="-1" strike="noStrike">
              <a:solidFill>
                <a:srgbClr val="111318"/>
              </a:solidFill>
              <a:latin typeface="Noto Sans CJK KR"/>
            </a:endParaRPr>
          </a:p>
          <a:p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• 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평행 </a:t>
            </a:r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2 vs 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진공</a:t>
            </a:r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+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평행 비교</a:t>
            </a:r>
            <a:endParaRPr b="0" lang="en-US" sz="1700" spc="-1" strike="noStrike">
              <a:solidFill>
                <a:srgbClr val="111318"/>
              </a:solidFill>
              <a:latin typeface="Noto Sans CJK KR"/>
            </a:endParaRPr>
          </a:p>
          <a:p>
            <a:r>
              <a:rPr b="0" lang="en-US" sz="1700" spc="-1" strike="noStrike">
                <a:solidFill>
                  <a:srgbClr val="111318"/>
                </a:solidFill>
                <a:latin typeface="Noto Sans CJK KR"/>
              </a:rPr>
              <a:t>• </a:t>
            </a:r>
            <a:r>
              <a:rPr b="0" lang="zh-CN" sz="1700" spc="-1" strike="noStrike">
                <a:solidFill>
                  <a:srgbClr val="111318"/>
                </a:solidFill>
                <a:latin typeface="Noto Sans CJK KR"/>
              </a:rPr>
              <a:t>복구 상태가 명확함</a:t>
            </a:r>
            <a:endParaRPr b="0" lang="en-US" sz="17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64" name=""/>
          <p:cNvSpPr/>
          <p:nvPr/>
        </p:nvSpPr>
        <p:spPr>
          <a:xfrm>
            <a:off x="6534000" y="3996000"/>
            <a:ext cx="4032000" cy="540000"/>
          </a:xfrm>
          <a:prstGeom prst="roundRect">
            <a:avLst/>
          </a:prstGeom>
          <a:solidFill>
            <a:srgbClr val="f4f6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6678000" y="4111200"/>
            <a:ext cx="3744000" cy="62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/>
            <a:r>
              <a:rPr b="1" lang="zh-CN" sz="1600" spc="-1" strike="noStrike">
                <a:solidFill>
                  <a:srgbClr val="e5782a"/>
                </a:solidFill>
                <a:latin typeface="Noto Sans CJK KR"/>
              </a:rPr>
              <a:t>기술 데모 강점  </a:t>
            </a:r>
            <a:r>
              <a:rPr b="1" lang="en-US" sz="1600" spc="-1" strike="noStrike">
                <a:solidFill>
                  <a:srgbClr val="e5782a"/>
                </a:solidFill>
                <a:latin typeface="Noto Sans CJK KR"/>
              </a:rPr>
              <a:t>/  Deformable + Recovery</a:t>
            </a:r>
            <a:endParaRPr b="1" lang="en-US" sz="1600" spc="-1" strike="noStrike">
              <a:solidFill>
                <a:srgbClr val="e5782a"/>
              </a:solidFill>
              <a:latin typeface="Noto Sans CJK KR"/>
            </a:endParaRPr>
          </a:p>
        </p:txBody>
      </p:sp>
      <p:sp>
        <p:nvSpPr>
          <p:cNvPr id="66" name=""/>
          <p:cNvSpPr/>
          <p:nvPr/>
        </p:nvSpPr>
        <p:spPr>
          <a:xfrm>
            <a:off x="486000" y="5220000"/>
            <a:ext cx="11214000" cy="756000"/>
          </a:xfrm>
          <a:prstGeom prst="roundRect">
            <a:avLst/>
          </a:prstGeom>
          <a:solidFill>
            <a:srgbClr val="11131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684000" y="5367600"/>
            <a:ext cx="1674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Courier New"/>
              </a:rPr>
              <a:t>9</a:t>
            </a:r>
            <a:r>
              <a:rPr b="1" lang="zh-CN" sz="1200" spc="-1" strike="noStrike">
                <a:solidFill>
                  <a:srgbClr val="ffffff"/>
                </a:solidFill>
                <a:latin typeface="Courier New"/>
              </a:rPr>
              <a:t>월 중순 </a:t>
            </a:r>
            <a:r>
              <a:rPr b="1" lang="en-US" sz="1200" spc="-1" strike="noStrike">
                <a:solidFill>
                  <a:srgbClr val="ffffff"/>
                </a:solidFill>
                <a:latin typeface="Courier New"/>
              </a:rPr>
              <a:t>GATE</a:t>
            </a:r>
            <a:endParaRPr b="1" lang="en-US" sz="1200" spc="-1" strike="noStrike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2448000" y="5349600"/>
            <a:ext cx="882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/>
            <a:r>
              <a:rPr b="1" lang="zh-CN" sz="1700" spc="-1" strike="noStrike">
                <a:solidFill>
                  <a:srgbClr val="ffffff"/>
                </a:solidFill>
                <a:latin typeface="Noto Sans CJK KR"/>
              </a:rPr>
              <a:t>물리 성공률  </a:t>
            </a:r>
            <a:r>
              <a:rPr b="1" lang="en-US" sz="1700" spc="-1" strike="noStrike">
                <a:solidFill>
                  <a:srgbClr val="ffffff"/>
                </a:solidFill>
                <a:latin typeface="Noto Sans CJK KR"/>
              </a:rPr>
              <a:t>·  </a:t>
            </a:r>
            <a:r>
              <a:rPr b="1" lang="zh-CN" sz="1700" spc="-1" strike="noStrike">
                <a:solidFill>
                  <a:srgbClr val="ffffff"/>
                </a:solidFill>
                <a:latin typeface="Noto Sans CJK KR"/>
              </a:rPr>
              <a:t>센서 판정  </a:t>
            </a:r>
            <a:r>
              <a:rPr b="1" lang="en-US" sz="1700" spc="-1" strike="noStrike">
                <a:solidFill>
                  <a:srgbClr val="ffffff"/>
                </a:solidFill>
                <a:latin typeface="Noto Sans CJK KR"/>
              </a:rPr>
              <a:t>·  </a:t>
            </a:r>
            <a:r>
              <a:rPr b="1" lang="zh-CN" sz="1700" spc="-1" strike="noStrike">
                <a:solidFill>
                  <a:srgbClr val="ffffff"/>
                </a:solidFill>
                <a:latin typeface="Noto Sans CJK KR"/>
              </a:rPr>
              <a:t>안전 복구  </a:t>
            </a:r>
            <a:r>
              <a:rPr b="1" lang="en-US" sz="1700" spc="-1" strike="noStrike">
                <a:solidFill>
                  <a:srgbClr val="ffffff"/>
                </a:solidFill>
                <a:latin typeface="Noto Sans CJK KR"/>
              </a:rPr>
              <a:t>·  </a:t>
            </a:r>
            <a:r>
              <a:rPr b="1" lang="zh-CN" sz="1700" spc="-1" strike="noStrike">
                <a:solidFill>
                  <a:srgbClr val="ffffff"/>
                </a:solidFill>
                <a:latin typeface="Noto Sans CJK KR"/>
              </a:rPr>
              <a:t>양팔 근거  </a:t>
            </a:r>
            <a:r>
              <a:rPr b="1" lang="en-US" sz="1700" spc="-1" strike="noStrike">
                <a:solidFill>
                  <a:srgbClr val="ffffff"/>
                </a:solidFill>
                <a:latin typeface="Noto Sans CJK KR"/>
              </a:rPr>
              <a:t>·  SLAM </a:t>
            </a:r>
            <a:r>
              <a:rPr b="1" lang="zh-CN" sz="1700" spc="-1" strike="noStrike">
                <a:solidFill>
                  <a:srgbClr val="ffffff"/>
                </a:solidFill>
                <a:latin typeface="Noto Sans CJK KR"/>
              </a:rPr>
              <a:t>통합성</a:t>
            </a:r>
            <a:endParaRPr b="1" lang="en-US" sz="17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86000" y="6516000"/>
            <a:ext cx="102960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20" spc="-1" strike="noStrike">
                <a:solidFill>
                  <a:srgbClr val="667085"/>
                </a:solidFill>
                <a:latin typeface="Arial"/>
              </a:rPr>
              <a:t>Sources: ACT — arxiv.org/abs/2304.13705 · ShakingBot — arxiv.org/abs/2304.04558 · Pouring by Feel — arxiv.org/abs/2310.18473</a:t>
            </a:r>
            <a:endParaRPr b="0" lang="en-US" sz="620" spc="-1" strike="noStrike">
              <a:solidFill>
                <a:srgbClr val="667085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0" y="0"/>
            <a:ext cx="111600" cy="6858000"/>
          </a:xfrm>
          <a:prstGeom prst="rect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0908000" y="6426000"/>
            <a:ext cx="900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900" spc="-1" strike="noStrike">
                <a:solidFill>
                  <a:srgbClr val="667085"/>
                </a:solidFill>
                <a:latin typeface="Courier New"/>
              </a:rPr>
              <a:t>03 / 04</a:t>
            </a:r>
            <a:endParaRPr b="1" lang="en-US" sz="900" spc="-1" strike="noStrike">
              <a:solidFill>
                <a:srgbClr val="667085"/>
              </a:solidFill>
              <a:latin typeface="Courier New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486000" y="324000"/>
            <a:ext cx="1872000" cy="28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2457f5"/>
                </a:solidFill>
                <a:latin typeface="Courier New"/>
              </a:rPr>
              <a:t>SYSTEM ARCHITECTURE &amp; END-EFFECTOR</a:t>
            </a:r>
            <a:endParaRPr b="1" lang="en-US" sz="1000" spc="-1" strike="noStrike">
              <a:solidFill>
                <a:srgbClr val="2457f5"/>
              </a:solidFill>
              <a:latin typeface="Courier New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486000" y="630000"/>
            <a:ext cx="9360000" cy="66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111318"/>
                </a:solidFill>
                <a:latin typeface="Noto Sans CJK KR"/>
              </a:rPr>
              <a:t>LLM</a:t>
            </a:r>
            <a:r>
              <a:rPr b="1" lang="zh-CN" sz="3600" spc="-1" strike="noStrike">
                <a:solidFill>
                  <a:srgbClr val="111318"/>
                </a:solidFill>
                <a:latin typeface="Noto Sans CJK KR"/>
              </a:rPr>
              <a:t>은 판단하고</a:t>
            </a:r>
            <a:r>
              <a:rPr b="1" lang="en-US" sz="3600" spc="-1" strike="noStrike">
                <a:solidFill>
                  <a:srgbClr val="111318"/>
                </a:solidFill>
                <a:latin typeface="Noto Sans CJK KR"/>
              </a:rPr>
              <a:t>, </a:t>
            </a:r>
            <a:r>
              <a:rPr b="1" lang="zh-CN" sz="3600" spc="-1" strike="noStrike">
                <a:solidFill>
                  <a:srgbClr val="111318"/>
                </a:solidFill>
                <a:latin typeface="Noto Sans CJK KR"/>
              </a:rPr>
              <a:t>제어기는 움직인다</a:t>
            </a:r>
            <a:endParaRPr b="1" lang="en-US" sz="36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86000" y="1098000"/>
            <a:ext cx="936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800" spc="-1" strike="noStrike">
                <a:solidFill>
                  <a:srgbClr val="667085"/>
                </a:solidFill>
                <a:latin typeface="Noto Sans CJK KR"/>
              </a:rPr>
              <a:t>자유로운 모터 명령 대신 검증된 스킬만 선택하는 계층 구조다</a:t>
            </a:r>
            <a:r>
              <a:rPr b="0" lang="en-US" sz="1800" spc="-1" strike="noStrike">
                <a:solidFill>
                  <a:srgbClr val="667085"/>
                </a:solidFill>
                <a:latin typeface="Noto Sans CJK KR"/>
              </a:rPr>
              <a:t>.</a:t>
            </a:r>
            <a:endParaRPr b="0" lang="en-US" sz="1800" spc="-1" strike="noStrike">
              <a:solidFill>
                <a:srgbClr val="667085"/>
              </a:solidFill>
              <a:latin typeface="Noto Sans CJK KR"/>
            </a:endParaRPr>
          </a:p>
        </p:txBody>
      </p:sp>
      <p:sp>
        <p:nvSpPr>
          <p:cNvPr id="76" name=""/>
          <p:cNvSpPr/>
          <p:nvPr/>
        </p:nvSpPr>
        <p:spPr>
          <a:xfrm>
            <a:off x="486000" y="1800000"/>
            <a:ext cx="2232000" cy="1404000"/>
          </a:xfrm>
          <a:prstGeom prst="roundRect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37200" y="1951200"/>
            <a:ext cx="324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ffffff"/>
                </a:solidFill>
                <a:latin typeface="Courier New"/>
              </a:rPr>
              <a:t>01</a:t>
            </a:r>
            <a:endParaRPr b="1" lang="en-US" sz="1000" spc="-1" strike="noStrike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37200" y="2196000"/>
            <a:ext cx="192960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700" spc="-1" strike="noStrike">
                <a:solidFill>
                  <a:srgbClr val="ffffff"/>
                </a:solidFill>
                <a:latin typeface="Courier New"/>
              </a:rPr>
              <a:t>LOCAL LLM</a:t>
            </a:r>
            <a:endParaRPr b="1" lang="en-US" sz="1700" spc="-1" strike="noStrike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637200" y="2538000"/>
            <a:ext cx="1929600" cy="66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500" spc="-1" strike="noStrike">
                <a:solidFill>
                  <a:srgbClr val="ffffff"/>
                </a:solidFill>
                <a:latin typeface="Noto Sans CJK KR"/>
              </a:rPr>
              <a:t>상태 요약 읽기</a:t>
            </a:r>
            <a:endParaRPr b="0" lang="en-US" sz="1500" spc="-1" strike="noStrike">
              <a:solidFill>
                <a:srgbClr val="ffffff"/>
              </a:solidFill>
              <a:latin typeface="Noto Sans CJK KR"/>
            </a:endParaRPr>
          </a:p>
          <a:p>
            <a:r>
              <a:rPr b="0" lang="zh-CN" sz="1500" spc="-1" strike="noStrike">
                <a:solidFill>
                  <a:srgbClr val="ffffff"/>
                </a:solidFill>
                <a:latin typeface="Noto Sans CJK KR"/>
              </a:rPr>
              <a:t>재시도</a:t>
            </a:r>
            <a:r>
              <a:rPr b="0" lang="en-US" sz="1500" spc="-1" strike="noStrike">
                <a:solidFill>
                  <a:srgbClr val="ffffff"/>
                </a:solidFill>
                <a:latin typeface="Noto Sans CJK KR"/>
              </a:rPr>
              <a:t>·</a:t>
            </a:r>
            <a:r>
              <a:rPr b="0" lang="zh-CN" sz="1500" spc="-1" strike="noStrike">
                <a:solidFill>
                  <a:srgbClr val="ffffff"/>
                </a:solidFill>
                <a:latin typeface="Noto Sans CJK KR"/>
              </a:rPr>
              <a:t>중단 결정</a:t>
            </a:r>
            <a:endParaRPr b="0" lang="en-US" sz="15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80" name=""/>
          <p:cNvSpPr/>
          <p:nvPr/>
        </p:nvSpPr>
        <p:spPr>
          <a:xfrm>
            <a:off x="2952000" y="1800000"/>
            <a:ext cx="2232000" cy="1404000"/>
          </a:xfrm>
          <a:prstGeom prst="roundRect">
            <a:avLst/>
          </a:prstGeom>
          <a:solidFill>
            <a:srgbClr val="11131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3103200" y="1951200"/>
            <a:ext cx="324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ffffff"/>
                </a:solidFill>
                <a:latin typeface="Courier New"/>
              </a:rPr>
              <a:t>02</a:t>
            </a:r>
            <a:endParaRPr b="1" lang="en-US" sz="1000" spc="-1" strike="noStrike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3103200" y="2196000"/>
            <a:ext cx="192960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700" spc="-1" strike="noStrike">
                <a:solidFill>
                  <a:srgbClr val="ffffff"/>
                </a:solidFill>
                <a:latin typeface="Courier New"/>
              </a:rPr>
              <a:t>FSM / SKILLS</a:t>
            </a:r>
            <a:endParaRPr b="1" lang="en-US" sz="1700" spc="-1" strike="noStrike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103200" y="2538000"/>
            <a:ext cx="1929600" cy="99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500" spc="-1" strike="noStrike">
                <a:solidFill>
                  <a:srgbClr val="ffffff"/>
                </a:solidFill>
                <a:latin typeface="Noto Sans CJK KR"/>
              </a:rPr>
              <a:t>허용 행동 검증</a:t>
            </a:r>
            <a:endParaRPr b="0" lang="en-US" sz="1500" spc="-1" strike="noStrike">
              <a:solidFill>
                <a:srgbClr val="ffffff"/>
              </a:solidFill>
              <a:latin typeface="Noto Sans CJK KR"/>
            </a:endParaRPr>
          </a:p>
          <a:p>
            <a:r>
              <a:rPr b="0" lang="zh-CN" sz="1500" spc="-1" strike="noStrike">
                <a:solidFill>
                  <a:srgbClr val="ffffff"/>
                </a:solidFill>
                <a:latin typeface="Noto Sans CJK KR"/>
              </a:rPr>
              <a:t>타임아웃</a:t>
            </a:r>
            <a:r>
              <a:rPr b="0" lang="en-US" sz="1500" spc="-1" strike="noStrike">
                <a:solidFill>
                  <a:srgbClr val="ffffff"/>
                </a:solidFill>
                <a:latin typeface="Noto Sans CJK KR"/>
              </a:rPr>
              <a:t>·</a:t>
            </a:r>
            <a:r>
              <a:rPr b="0" lang="zh-CN" sz="1500" spc="-1" strike="noStrike">
                <a:solidFill>
                  <a:srgbClr val="ffffff"/>
                </a:solidFill>
                <a:latin typeface="Noto Sans CJK KR"/>
              </a:rPr>
              <a:t>안전 전이</a:t>
            </a:r>
            <a:endParaRPr b="0" lang="en-US" sz="15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84" name=""/>
          <p:cNvSpPr/>
          <p:nvPr/>
        </p:nvSpPr>
        <p:spPr>
          <a:xfrm>
            <a:off x="5418000" y="1800000"/>
            <a:ext cx="2952000" cy="1404000"/>
          </a:xfrm>
          <a:prstGeom prst="roundRect">
            <a:avLst/>
          </a:prstGeom>
          <a:solidFill>
            <a:srgbClr val="f4f6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5569200" y="1951200"/>
            <a:ext cx="324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111318"/>
                </a:solidFill>
                <a:latin typeface="Courier New"/>
              </a:rPr>
              <a:t>03</a:t>
            </a:r>
            <a:endParaRPr b="1" lang="en-US" sz="1000" spc="-1" strike="noStrike">
              <a:solidFill>
                <a:srgbClr val="111318"/>
              </a:solidFill>
              <a:latin typeface="Courier New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569200" y="2196000"/>
            <a:ext cx="264960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700" spc="-1" strike="noStrike">
                <a:solidFill>
                  <a:srgbClr val="111318"/>
                </a:solidFill>
                <a:latin typeface="Courier New"/>
              </a:rPr>
              <a:t>ROBOT STACK</a:t>
            </a:r>
            <a:endParaRPr b="1" lang="en-US" sz="1700" spc="-1" strike="noStrike">
              <a:solidFill>
                <a:srgbClr val="111318"/>
              </a:solidFill>
              <a:latin typeface="Courier New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5569200" y="2538000"/>
            <a:ext cx="2649600" cy="60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00" spc="-1" strike="noStrike">
                <a:solidFill>
                  <a:srgbClr val="111318"/>
                </a:solidFill>
                <a:latin typeface="Noto Sans CJK KR"/>
              </a:rPr>
              <a:t>SLAM · Depth · IK/ACT</a:t>
            </a:r>
            <a:endParaRPr b="0" lang="en-US" sz="1500" spc="-1" strike="noStrike">
              <a:solidFill>
                <a:srgbClr val="111318"/>
              </a:solidFill>
              <a:latin typeface="Noto Sans CJK KR"/>
            </a:endParaRPr>
          </a:p>
          <a:p>
            <a:r>
              <a:rPr b="0" lang="zh-CN" sz="1500" spc="-1" strike="noStrike">
                <a:solidFill>
                  <a:srgbClr val="111318"/>
                </a:solidFill>
                <a:latin typeface="Noto Sans CJK KR"/>
              </a:rPr>
              <a:t>접촉 </a:t>
            </a:r>
            <a:r>
              <a:rPr b="0" lang="en-US" sz="1500" spc="-1" strike="noStrike">
                <a:solidFill>
                  <a:srgbClr val="111318"/>
                </a:solidFill>
                <a:latin typeface="Noto Sans CJK KR"/>
              </a:rPr>
              <a:t>· </a:t>
            </a:r>
            <a:r>
              <a:rPr b="0" lang="zh-CN" sz="1500" spc="-1" strike="noStrike">
                <a:solidFill>
                  <a:srgbClr val="111318"/>
                </a:solidFill>
                <a:latin typeface="Noto Sans CJK KR"/>
              </a:rPr>
              <a:t>저울 </a:t>
            </a:r>
            <a:r>
              <a:rPr b="0" lang="en-US" sz="1500" spc="-1" strike="noStrike">
                <a:solidFill>
                  <a:srgbClr val="111318"/>
                </a:solidFill>
                <a:latin typeface="Noto Sans CJK KR"/>
              </a:rPr>
              <a:t>· </a:t>
            </a:r>
            <a:r>
              <a:rPr b="0" lang="zh-CN" sz="1500" spc="-1" strike="noStrike">
                <a:solidFill>
                  <a:srgbClr val="111318"/>
                </a:solidFill>
                <a:latin typeface="Noto Sans CJK KR"/>
              </a:rPr>
              <a:t>결과 판정</a:t>
            </a:r>
            <a:endParaRPr b="0" lang="en-US" sz="15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88" name=""/>
          <p:cNvSpPr/>
          <p:nvPr/>
        </p:nvSpPr>
        <p:spPr>
          <a:xfrm>
            <a:off x="8604000" y="1800000"/>
            <a:ext cx="3096000" cy="1404000"/>
          </a:xfrm>
          <a:prstGeom prst="roundRect">
            <a:avLst/>
          </a:prstGeom>
          <a:solidFill>
            <a:srgbClr val="ffffff"/>
          </a:solidFill>
          <a:ln w="14400">
            <a:solidFill>
              <a:srgbClr val="dde2ea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755200" y="1951200"/>
            <a:ext cx="324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111318"/>
                </a:solidFill>
                <a:latin typeface="Courier New"/>
              </a:rPr>
              <a:t>04</a:t>
            </a:r>
            <a:endParaRPr b="1" lang="en-US" sz="1000" spc="-1" strike="noStrike">
              <a:solidFill>
                <a:srgbClr val="111318"/>
              </a:solidFill>
              <a:latin typeface="Courier New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755200" y="2196000"/>
            <a:ext cx="279360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700" spc="-1" strike="noStrike">
                <a:solidFill>
                  <a:srgbClr val="111318"/>
                </a:solidFill>
                <a:latin typeface="Courier New"/>
              </a:rPr>
              <a:t>HARDWARE</a:t>
            </a:r>
            <a:endParaRPr b="1" lang="en-US" sz="1700" spc="-1" strike="noStrike">
              <a:solidFill>
                <a:srgbClr val="111318"/>
              </a:solidFill>
              <a:latin typeface="Courier New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755200" y="2538000"/>
            <a:ext cx="2793600" cy="66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500" spc="-1" strike="noStrike">
                <a:solidFill>
                  <a:srgbClr val="111318"/>
                </a:solidFill>
                <a:latin typeface="Noto Sans CJK KR"/>
              </a:rPr>
              <a:t>모바일 베이스 </a:t>
            </a:r>
            <a:r>
              <a:rPr b="0" lang="en-US" sz="1500" spc="-1" strike="noStrike">
                <a:solidFill>
                  <a:srgbClr val="111318"/>
                </a:solidFill>
                <a:latin typeface="Noto Sans CJK KR"/>
              </a:rPr>
              <a:t>· SO-101 ×2</a:t>
            </a:r>
            <a:endParaRPr b="0" lang="en-US" sz="1500" spc="-1" strike="noStrike">
              <a:solidFill>
                <a:srgbClr val="111318"/>
              </a:solidFill>
              <a:latin typeface="Noto Sans CJK KR"/>
            </a:endParaRPr>
          </a:p>
          <a:p>
            <a:r>
              <a:rPr b="0" lang="zh-CN" sz="1500" spc="-1" strike="noStrike">
                <a:solidFill>
                  <a:srgbClr val="111318"/>
                </a:solidFill>
                <a:latin typeface="Noto Sans CJK KR"/>
              </a:rPr>
              <a:t>교체형 그리퍼</a:t>
            </a:r>
            <a:endParaRPr b="0" lang="en-US" sz="15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2718000" y="2286000"/>
            <a:ext cx="234000" cy="47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/>
            <a:r>
              <a:rPr b="1" lang="en-US" sz="2600" spc="-1" strike="noStrike">
                <a:solidFill>
                  <a:srgbClr val="2457f5"/>
                </a:solidFill>
                <a:latin typeface="Noto Sans CJK KR"/>
              </a:rPr>
              <a:t>→</a:t>
            </a:r>
            <a:endParaRPr b="1" lang="en-US" sz="2600" spc="-1" strike="noStrike">
              <a:solidFill>
                <a:srgbClr val="2457f5"/>
              </a:solidFill>
              <a:latin typeface="Noto Sans CJK KR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184000" y="2286000"/>
            <a:ext cx="234000" cy="47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/>
            <a:r>
              <a:rPr b="1" lang="en-US" sz="2600" spc="-1" strike="noStrike">
                <a:solidFill>
                  <a:srgbClr val="2457f5"/>
                </a:solidFill>
                <a:latin typeface="Noto Sans CJK KR"/>
              </a:rPr>
              <a:t>→</a:t>
            </a:r>
            <a:endParaRPr b="1" lang="en-US" sz="2600" spc="-1" strike="noStrike">
              <a:solidFill>
                <a:srgbClr val="2457f5"/>
              </a:solidFill>
              <a:latin typeface="Noto Sans CJK KR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370000" y="2286000"/>
            <a:ext cx="234000" cy="47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/>
            <a:r>
              <a:rPr b="1" lang="en-US" sz="2600" spc="-1" strike="noStrike">
                <a:solidFill>
                  <a:srgbClr val="2457f5"/>
                </a:solidFill>
                <a:latin typeface="Noto Sans CJK KR"/>
              </a:rPr>
              <a:t>→</a:t>
            </a:r>
            <a:endParaRPr b="1" lang="en-US" sz="2600" spc="-1" strike="noStrike">
              <a:solidFill>
                <a:srgbClr val="2457f5"/>
              </a:solidFill>
              <a:latin typeface="Noto Sans CJK KR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486000" y="3438000"/>
            <a:ext cx="2808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2457f5"/>
                </a:solidFill>
                <a:latin typeface="Courier New"/>
              </a:rPr>
              <a:t>허용된 복구 행동</a:t>
            </a:r>
            <a:endParaRPr b="1" lang="en-US" sz="1200" spc="-1" strike="noStrike">
              <a:solidFill>
                <a:srgbClr val="2457f5"/>
              </a:solidFill>
              <a:latin typeface="Courier New"/>
            </a:endParaRPr>
          </a:p>
        </p:txBody>
      </p:sp>
      <p:sp>
        <p:nvSpPr>
          <p:cNvPr id="96" name=""/>
          <p:cNvSpPr/>
          <p:nvPr/>
        </p:nvSpPr>
        <p:spPr>
          <a:xfrm>
            <a:off x="486000" y="3726000"/>
            <a:ext cx="2016000" cy="306000"/>
          </a:xfrm>
          <a:prstGeom prst="roundRect">
            <a:avLst/>
          </a:prstGeom>
          <a:solidFill>
            <a:srgbClr val="f4f6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540000" y="3807000"/>
            <a:ext cx="19080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100" spc="-1" strike="noStrike">
                <a:solidFill>
                  <a:srgbClr val="111318"/>
                </a:solidFill>
                <a:latin typeface="Courier New"/>
              </a:rPr>
              <a:t>REGRASP</a:t>
            </a:r>
            <a:endParaRPr b="1" lang="en-US" sz="1100" spc="-1" strike="noStrike">
              <a:solidFill>
                <a:srgbClr val="111318"/>
              </a:solidFill>
              <a:latin typeface="Courier New"/>
            </a:endParaRPr>
          </a:p>
        </p:txBody>
      </p:sp>
      <p:sp>
        <p:nvSpPr>
          <p:cNvPr id="98" name=""/>
          <p:cNvSpPr/>
          <p:nvPr/>
        </p:nvSpPr>
        <p:spPr>
          <a:xfrm>
            <a:off x="2700000" y="3726000"/>
            <a:ext cx="2016000" cy="306000"/>
          </a:xfrm>
          <a:prstGeom prst="roundRect">
            <a:avLst/>
          </a:prstGeom>
          <a:solidFill>
            <a:srgbClr val="f4f6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754000" y="3807000"/>
            <a:ext cx="19080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100" spc="-1" strike="noStrike">
                <a:solidFill>
                  <a:srgbClr val="111318"/>
                </a:solidFill>
                <a:latin typeface="Courier New"/>
              </a:rPr>
              <a:t>REOBSERVE</a:t>
            </a:r>
            <a:endParaRPr b="1" lang="en-US" sz="1100" spc="-1" strike="noStrike">
              <a:solidFill>
                <a:srgbClr val="111318"/>
              </a:solidFill>
              <a:latin typeface="Courier New"/>
            </a:endParaRPr>
          </a:p>
        </p:txBody>
      </p:sp>
      <p:sp>
        <p:nvSpPr>
          <p:cNvPr id="100" name=""/>
          <p:cNvSpPr/>
          <p:nvPr/>
        </p:nvSpPr>
        <p:spPr>
          <a:xfrm>
            <a:off x="4914000" y="3726000"/>
            <a:ext cx="2016000" cy="306000"/>
          </a:xfrm>
          <a:prstGeom prst="roundRect">
            <a:avLst/>
          </a:prstGeom>
          <a:solidFill>
            <a:srgbClr val="f4f6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4968000" y="3807000"/>
            <a:ext cx="19080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100" spc="-1" strike="noStrike">
                <a:solidFill>
                  <a:srgbClr val="111318"/>
                </a:solidFill>
                <a:latin typeface="Courier New"/>
              </a:rPr>
              <a:t>RETRY_SKILL</a:t>
            </a:r>
            <a:endParaRPr b="1" lang="en-US" sz="1100" spc="-1" strike="noStrike">
              <a:solidFill>
                <a:srgbClr val="111318"/>
              </a:solidFill>
              <a:latin typeface="Courier New"/>
            </a:endParaRPr>
          </a:p>
        </p:txBody>
      </p:sp>
      <p:sp>
        <p:nvSpPr>
          <p:cNvPr id="102" name=""/>
          <p:cNvSpPr/>
          <p:nvPr/>
        </p:nvSpPr>
        <p:spPr>
          <a:xfrm>
            <a:off x="7128000" y="3726000"/>
            <a:ext cx="2016000" cy="306000"/>
          </a:xfrm>
          <a:prstGeom prst="roundRect">
            <a:avLst/>
          </a:prstGeom>
          <a:solidFill>
            <a:srgbClr val="f4f6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7182000" y="3807000"/>
            <a:ext cx="19080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100" spc="-1" strike="noStrike">
                <a:solidFill>
                  <a:srgbClr val="111318"/>
                </a:solidFill>
                <a:latin typeface="Courier New"/>
              </a:rPr>
              <a:t>NEXT_OBJECT</a:t>
            </a:r>
            <a:endParaRPr b="1" lang="en-US" sz="1100" spc="-1" strike="noStrike">
              <a:solidFill>
                <a:srgbClr val="111318"/>
              </a:solidFill>
              <a:latin typeface="Courier New"/>
            </a:endParaRPr>
          </a:p>
        </p:txBody>
      </p:sp>
      <p:sp>
        <p:nvSpPr>
          <p:cNvPr id="104" name=""/>
          <p:cNvSpPr/>
          <p:nvPr/>
        </p:nvSpPr>
        <p:spPr>
          <a:xfrm>
            <a:off x="9342000" y="3726000"/>
            <a:ext cx="2016000" cy="306000"/>
          </a:xfrm>
          <a:prstGeom prst="roundRect">
            <a:avLst/>
          </a:prstGeom>
          <a:solidFill>
            <a:srgbClr val="f4f6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9396000" y="3807000"/>
            <a:ext cx="19080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100" spc="-1" strike="noStrike">
                <a:solidFill>
                  <a:srgbClr val="111318"/>
                </a:solidFill>
                <a:latin typeface="Courier New"/>
              </a:rPr>
              <a:t>ABORT_HOME</a:t>
            </a:r>
            <a:endParaRPr b="1" lang="en-US" sz="1100" spc="-1" strike="noStrike">
              <a:solidFill>
                <a:srgbClr val="111318"/>
              </a:solidFill>
              <a:latin typeface="Courier New"/>
            </a:endParaRPr>
          </a:p>
        </p:txBody>
      </p:sp>
      <p:sp>
        <p:nvSpPr>
          <p:cNvPr id="106" name=""/>
          <p:cNvSpPr/>
          <p:nvPr/>
        </p:nvSpPr>
        <p:spPr>
          <a:xfrm>
            <a:off x="486000" y="4482000"/>
            <a:ext cx="5436000" cy="1296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dde2ea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84000" y="4644000"/>
            <a:ext cx="1008000" cy="66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00" spc="-1" strike="noStrike">
                <a:solidFill>
                  <a:srgbClr val="2457f5"/>
                </a:solidFill>
                <a:latin typeface="Courier New"/>
              </a:rPr>
              <a:t>물병 그리퍼</a:t>
            </a:r>
            <a:endParaRPr b="1" lang="en-US" sz="1100" spc="-1" strike="noStrike">
              <a:solidFill>
                <a:srgbClr val="2457f5"/>
              </a:solidFill>
              <a:latin typeface="Courier New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684000" y="4896000"/>
            <a:ext cx="4752000" cy="4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300" spc="-1" strike="noStrike">
                <a:solidFill>
                  <a:srgbClr val="111318"/>
                </a:solidFill>
                <a:latin typeface="Noto Sans CJK KR"/>
              </a:rPr>
              <a:t>평행 그리퍼 </a:t>
            </a:r>
            <a:r>
              <a:rPr b="1" lang="en-US" sz="2300" spc="-1" strike="noStrike">
                <a:solidFill>
                  <a:srgbClr val="111318"/>
                </a:solidFill>
                <a:latin typeface="Noto Sans CJK KR"/>
              </a:rPr>
              <a:t>2</a:t>
            </a:r>
            <a:r>
              <a:rPr b="1" lang="zh-CN" sz="2300" spc="-1" strike="noStrike">
                <a:solidFill>
                  <a:srgbClr val="111318"/>
                </a:solidFill>
                <a:latin typeface="Noto Sans CJK KR"/>
              </a:rPr>
              <a:t>개</a:t>
            </a:r>
            <a:endParaRPr b="1" lang="en-US" sz="23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84000" y="5220000"/>
            <a:ext cx="4752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667085"/>
                </a:solidFill>
                <a:latin typeface="Noto Sans CJK KR"/>
              </a:rPr>
              <a:t>V-groove/TPU </a:t>
            </a:r>
            <a:r>
              <a:rPr b="0" lang="zh-CN" sz="1600" spc="-1" strike="noStrike">
                <a:solidFill>
                  <a:srgbClr val="667085"/>
                </a:solidFill>
                <a:latin typeface="Noto Sans CJK KR"/>
              </a:rPr>
              <a:t>패드 </a:t>
            </a:r>
            <a:r>
              <a:rPr b="0" lang="en-US" sz="1600" spc="-1" strike="noStrike">
                <a:solidFill>
                  <a:srgbClr val="667085"/>
                </a:solidFill>
                <a:latin typeface="Noto Sans CJK KR"/>
              </a:rPr>
              <a:t>+ FSR </a:t>
            </a:r>
            <a:r>
              <a:rPr b="0" lang="zh-CN" sz="1600" spc="-1" strike="noStrike">
                <a:solidFill>
                  <a:srgbClr val="667085"/>
                </a:solidFill>
                <a:latin typeface="Noto Sans CJK KR"/>
              </a:rPr>
              <a:t>접촉 센서</a:t>
            </a:r>
            <a:endParaRPr b="0" lang="en-US" sz="1600" spc="-1" strike="noStrike">
              <a:solidFill>
                <a:srgbClr val="667085"/>
              </a:solidFill>
              <a:latin typeface="Noto Sans CJK KR"/>
            </a:endParaRPr>
          </a:p>
        </p:txBody>
      </p:sp>
      <p:sp>
        <p:nvSpPr>
          <p:cNvPr id="110" name=""/>
          <p:cNvSpPr/>
          <p:nvPr/>
        </p:nvSpPr>
        <p:spPr>
          <a:xfrm>
            <a:off x="6264000" y="4482000"/>
            <a:ext cx="5436000" cy="1296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dde2ea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462000" y="4644000"/>
            <a:ext cx="1008000" cy="66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00" spc="-1" strike="noStrike">
                <a:solidFill>
                  <a:srgbClr val="e5782a"/>
                </a:solidFill>
                <a:latin typeface="Courier New"/>
              </a:rPr>
              <a:t>봉지 그리퍼</a:t>
            </a:r>
            <a:endParaRPr b="1" lang="en-US" sz="1100" spc="-1" strike="noStrike">
              <a:solidFill>
                <a:srgbClr val="e5782a"/>
              </a:solidFill>
              <a:latin typeface="Courier New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6462000" y="4896000"/>
            <a:ext cx="4752000" cy="4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300" spc="-1" strike="noStrike">
                <a:solidFill>
                  <a:srgbClr val="111318"/>
                </a:solidFill>
                <a:latin typeface="Noto Sans CJK KR"/>
              </a:rPr>
              <a:t>평행 </a:t>
            </a:r>
            <a:r>
              <a:rPr b="1" lang="en-US" sz="2300" spc="-1" strike="noStrike">
                <a:solidFill>
                  <a:srgbClr val="111318"/>
                </a:solidFill>
                <a:latin typeface="Noto Sans CJK KR"/>
              </a:rPr>
              <a:t>2  ↔  </a:t>
            </a:r>
            <a:r>
              <a:rPr b="1" lang="zh-CN" sz="2300" spc="-1" strike="noStrike">
                <a:solidFill>
                  <a:srgbClr val="111318"/>
                </a:solidFill>
                <a:latin typeface="Noto Sans CJK KR"/>
              </a:rPr>
              <a:t>진공</a:t>
            </a:r>
            <a:r>
              <a:rPr b="1" lang="en-US" sz="2300" spc="-1" strike="noStrike">
                <a:solidFill>
                  <a:srgbClr val="111318"/>
                </a:solidFill>
                <a:latin typeface="Noto Sans CJK KR"/>
              </a:rPr>
              <a:t>+</a:t>
            </a:r>
            <a:r>
              <a:rPr b="1" lang="zh-CN" sz="2300" spc="-1" strike="noStrike">
                <a:solidFill>
                  <a:srgbClr val="111318"/>
                </a:solidFill>
                <a:latin typeface="Noto Sans CJK KR"/>
              </a:rPr>
              <a:t>평행</a:t>
            </a:r>
            <a:endParaRPr b="1" lang="en-US" sz="23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462000" y="5220000"/>
            <a:ext cx="4752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600" spc="-1" strike="noStrike">
                <a:solidFill>
                  <a:srgbClr val="667085"/>
                </a:solidFill>
                <a:latin typeface="Noto Sans CJK KR"/>
              </a:rPr>
              <a:t>퀵스왑 마운트로 </a:t>
            </a:r>
            <a:r>
              <a:rPr b="0" lang="en-US" sz="1600" spc="-1" strike="noStrike">
                <a:solidFill>
                  <a:srgbClr val="667085"/>
                </a:solidFill>
                <a:latin typeface="Noto Sans CJK KR"/>
              </a:rPr>
              <a:t>POC </a:t>
            </a:r>
            <a:r>
              <a:rPr b="0" lang="zh-CN" sz="1600" spc="-1" strike="noStrike">
                <a:solidFill>
                  <a:srgbClr val="667085"/>
                </a:solidFill>
                <a:latin typeface="Noto Sans CJK KR"/>
              </a:rPr>
              <a:t>비교</a:t>
            </a:r>
            <a:endParaRPr b="0" lang="en-US" sz="1600" spc="-1" strike="noStrike">
              <a:solidFill>
                <a:srgbClr val="667085"/>
              </a:solidFill>
              <a:latin typeface="Noto Sans CJK KR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86000" y="6516000"/>
            <a:ext cx="102960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20" spc="-1" strike="noStrike">
                <a:solidFill>
                  <a:srgbClr val="667085"/>
                </a:solidFill>
                <a:latin typeface="Arial"/>
              </a:rPr>
              <a:t>Sources: Inner Monologue — arxiv.org/abs/2207.05608 · Nav2 — docs.nav2.org · Vision-Tactile Grasping — arxiv.org/abs/2112.06374</a:t>
            </a:r>
            <a:endParaRPr b="0" lang="en-US" sz="620" spc="-1" strike="noStrike">
              <a:solidFill>
                <a:srgbClr val="667085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0" y="0"/>
            <a:ext cx="1219176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0" y="0"/>
            <a:ext cx="111600" cy="6858000"/>
          </a:xfrm>
          <a:prstGeom prst="rect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0908000" y="6426000"/>
            <a:ext cx="900000" cy="1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1" lang="en-US" sz="900" spc="-1" strike="noStrike">
                <a:solidFill>
                  <a:srgbClr val="667085"/>
                </a:solidFill>
                <a:latin typeface="Courier New"/>
              </a:rPr>
              <a:t>04 / 04</a:t>
            </a:r>
            <a:endParaRPr b="1" lang="en-US" sz="900" spc="-1" strike="noStrike">
              <a:solidFill>
                <a:srgbClr val="667085"/>
              </a:solidFill>
              <a:latin typeface="Courier New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86000" y="324000"/>
            <a:ext cx="1872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2457f5"/>
                </a:solidFill>
                <a:latin typeface="Courier New"/>
              </a:rPr>
              <a:t>ROLES &amp; ROADMAP</a:t>
            </a:r>
            <a:endParaRPr b="1" lang="en-US" sz="1000" spc="-1" strike="noStrike">
              <a:solidFill>
                <a:srgbClr val="2457f5"/>
              </a:solidFill>
              <a:latin typeface="Courier New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86000" y="630000"/>
            <a:ext cx="10440000" cy="66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3600" spc="-1" strike="noStrike">
                <a:solidFill>
                  <a:srgbClr val="111318"/>
                </a:solidFill>
                <a:latin typeface="Noto Sans CJK KR"/>
              </a:rPr>
              <a:t>역할은 나누되</a:t>
            </a:r>
            <a:r>
              <a:rPr b="1" lang="en-US" sz="3600" spc="-1" strike="noStrike">
                <a:solidFill>
                  <a:srgbClr val="111318"/>
                </a:solidFill>
                <a:latin typeface="Noto Sans CJK KR"/>
              </a:rPr>
              <a:t>, </a:t>
            </a:r>
            <a:r>
              <a:rPr b="1" lang="zh-CN" sz="3600" spc="-1" strike="noStrike">
                <a:solidFill>
                  <a:srgbClr val="111318"/>
                </a:solidFill>
                <a:latin typeface="Noto Sans CJK KR"/>
              </a:rPr>
              <a:t>기반 기술은 함께 익힌다</a:t>
            </a:r>
            <a:endParaRPr b="1" lang="en-US" sz="36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486000" y="1260000"/>
            <a:ext cx="20880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2457f5"/>
                </a:solidFill>
                <a:latin typeface="Courier New"/>
              </a:rPr>
              <a:t>ROLE</a:t>
            </a:r>
            <a:endParaRPr b="1" lang="en-US" sz="1100" spc="-1" strike="noStrike">
              <a:solidFill>
                <a:srgbClr val="2457f5"/>
              </a:solidFill>
              <a:latin typeface="Courier New"/>
            </a:endParaRPr>
          </a:p>
        </p:txBody>
      </p:sp>
      <p:sp>
        <p:nvSpPr>
          <p:cNvPr id="121" name=""/>
          <p:cNvSpPr/>
          <p:nvPr/>
        </p:nvSpPr>
        <p:spPr>
          <a:xfrm>
            <a:off x="486000" y="1548000"/>
            <a:ext cx="4716000" cy="882000"/>
          </a:xfrm>
          <a:prstGeom prst="roundRect">
            <a:avLst/>
          </a:prstGeom>
          <a:solidFill>
            <a:srgbClr val="f4f6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66000" y="1684800"/>
            <a:ext cx="1296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800" spc="-1" strike="noStrike">
                <a:solidFill>
                  <a:srgbClr val="111318"/>
                </a:solidFill>
                <a:latin typeface="Noto Sans CJK KR"/>
              </a:rPr>
              <a:t>강사 </a:t>
            </a:r>
            <a:r>
              <a:rPr b="1" lang="en-US" sz="1800" spc="-1" strike="noStrike">
                <a:solidFill>
                  <a:srgbClr val="111318"/>
                </a:solidFill>
                <a:latin typeface="Noto Sans CJK KR"/>
              </a:rPr>
              <a:t>/ </a:t>
            </a:r>
            <a:r>
              <a:rPr b="1" lang="zh-CN" sz="1800" spc="-1" strike="noStrike">
                <a:solidFill>
                  <a:srgbClr val="111318"/>
                </a:solidFill>
                <a:latin typeface="Noto Sans CJK KR"/>
              </a:rPr>
              <a:t>멘토</a:t>
            </a:r>
            <a:endParaRPr b="1" lang="en-US" sz="18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2016000" y="1674000"/>
            <a:ext cx="2916000" cy="66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500" spc="-1" strike="noStrike">
                <a:solidFill>
                  <a:srgbClr val="667085"/>
                </a:solidFill>
                <a:latin typeface="Noto Sans CJK KR"/>
              </a:rPr>
              <a:t>로컬 </a:t>
            </a:r>
            <a:r>
              <a:rPr b="0" lang="en-US" sz="1500" spc="-1" strike="noStrike">
                <a:solidFill>
                  <a:srgbClr val="667085"/>
                </a:solidFill>
                <a:latin typeface="Noto Sans CJK KR"/>
              </a:rPr>
              <a:t>LLM·</a:t>
            </a:r>
            <a:r>
              <a:rPr b="0" lang="zh-CN" sz="1500" spc="-1" strike="noStrike">
                <a:solidFill>
                  <a:srgbClr val="667085"/>
                </a:solidFill>
                <a:latin typeface="Noto Sans CJK KR"/>
              </a:rPr>
              <a:t>감독 에이전트</a:t>
            </a:r>
            <a:endParaRPr b="0" lang="en-US" sz="1500" spc="-1" strike="noStrike">
              <a:solidFill>
                <a:srgbClr val="667085"/>
              </a:solidFill>
              <a:latin typeface="Noto Sans CJK KR"/>
            </a:endParaRPr>
          </a:p>
          <a:p>
            <a:r>
              <a:rPr b="0" lang="zh-CN" sz="1500" spc="-1" strike="noStrike">
                <a:solidFill>
                  <a:srgbClr val="667085"/>
                </a:solidFill>
                <a:latin typeface="Noto Sans CJK KR"/>
              </a:rPr>
              <a:t>교육</a:t>
            </a:r>
            <a:r>
              <a:rPr b="0" lang="en-US" sz="1500" spc="-1" strike="noStrike">
                <a:solidFill>
                  <a:srgbClr val="667085"/>
                </a:solidFill>
                <a:latin typeface="Noto Sans CJK KR"/>
              </a:rPr>
              <a:t>·</a:t>
            </a:r>
            <a:r>
              <a:rPr b="0" lang="zh-CN" sz="1500" spc="-1" strike="noStrike">
                <a:solidFill>
                  <a:srgbClr val="667085"/>
                </a:solidFill>
                <a:latin typeface="Noto Sans CJK KR"/>
              </a:rPr>
              <a:t>리뷰</a:t>
            </a:r>
            <a:r>
              <a:rPr b="0" lang="en-US" sz="1500" spc="-1" strike="noStrike">
                <a:solidFill>
                  <a:srgbClr val="667085"/>
                </a:solidFill>
                <a:latin typeface="Noto Sans CJK KR"/>
              </a:rPr>
              <a:t>·</a:t>
            </a:r>
            <a:r>
              <a:rPr b="0" lang="zh-CN" sz="1500" spc="-1" strike="noStrike">
                <a:solidFill>
                  <a:srgbClr val="667085"/>
                </a:solidFill>
                <a:latin typeface="Noto Sans CJK KR"/>
              </a:rPr>
              <a:t>통합 게이트</a:t>
            </a:r>
            <a:endParaRPr b="0" lang="en-US" sz="1500" spc="-1" strike="noStrike">
              <a:solidFill>
                <a:srgbClr val="667085"/>
              </a:solidFill>
              <a:latin typeface="Noto Sans CJK KR"/>
            </a:endParaRPr>
          </a:p>
        </p:txBody>
      </p:sp>
      <p:sp>
        <p:nvSpPr>
          <p:cNvPr id="124" name=""/>
          <p:cNvSpPr/>
          <p:nvPr/>
        </p:nvSpPr>
        <p:spPr>
          <a:xfrm>
            <a:off x="486000" y="2628000"/>
            <a:ext cx="4716000" cy="882000"/>
          </a:xfrm>
          <a:prstGeom prst="roundRect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66000" y="2764800"/>
            <a:ext cx="1296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Noto Sans CJK KR"/>
              </a:rPr>
              <a:t>사용자</a:t>
            </a:r>
            <a:endParaRPr b="1" lang="en-US" sz="18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2016000" y="2754000"/>
            <a:ext cx="2916000" cy="99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00" spc="-1" strike="noStrike">
                <a:solidFill>
                  <a:srgbClr val="ffffff"/>
                </a:solidFill>
                <a:latin typeface="Noto Sans CJK KR"/>
              </a:rPr>
              <a:t>SLAM/Nav2 </a:t>
            </a:r>
            <a:r>
              <a:rPr b="0" lang="zh-CN" sz="1500" spc="-1" strike="noStrike">
                <a:solidFill>
                  <a:srgbClr val="ffffff"/>
                </a:solidFill>
                <a:latin typeface="Noto Sans CJK KR"/>
              </a:rPr>
              <a:t>우선</a:t>
            </a:r>
            <a:endParaRPr b="0" lang="en-US" sz="1500" spc="-1" strike="noStrike">
              <a:solidFill>
                <a:srgbClr val="ffffff"/>
              </a:solidFill>
              <a:latin typeface="Noto Sans CJK KR"/>
            </a:endParaRPr>
          </a:p>
          <a:p>
            <a:r>
              <a:rPr b="0" lang="zh-CN" sz="1500" spc="-1" strike="noStrike">
                <a:solidFill>
                  <a:srgbClr val="ffffff"/>
                </a:solidFill>
                <a:latin typeface="Noto Sans CJK KR"/>
              </a:rPr>
              <a:t>모바일 베이스</a:t>
            </a:r>
            <a:r>
              <a:rPr b="0" lang="en-US" sz="1500" spc="-1" strike="noStrike">
                <a:solidFill>
                  <a:srgbClr val="ffffff"/>
                </a:solidFill>
                <a:latin typeface="Noto Sans CJK KR"/>
              </a:rPr>
              <a:t>·</a:t>
            </a:r>
            <a:r>
              <a:rPr b="0" lang="zh-CN" sz="1500" spc="-1" strike="noStrike">
                <a:solidFill>
                  <a:srgbClr val="ffffff"/>
                </a:solidFill>
                <a:latin typeface="Noto Sans CJK KR"/>
              </a:rPr>
              <a:t>작업대 접근</a:t>
            </a:r>
            <a:r>
              <a:rPr b="0" lang="en-US" sz="1500" spc="-1" strike="noStrike">
                <a:solidFill>
                  <a:srgbClr val="ffffff"/>
                </a:solidFill>
                <a:latin typeface="Noto Sans CJK KR"/>
              </a:rPr>
              <a:t>·</a:t>
            </a:r>
            <a:r>
              <a:rPr b="0" lang="zh-CN" sz="1500" spc="-1" strike="noStrike">
                <a:solidFill>
                  <a:srgbClr val="ffffff"/>
                </a:solidFill>
                <a:latin typeface="Noto Sans CJK KR"/>
              </a:rPr>
              <a:t>통합</a:t>
            </a:r>
            <a:endParaRPr b="0" lang="en-US" sz="15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27" name=""/>
          <p:cNvSpPr/>
          <p:nvPr/>
        </p:nvSpPr>
        <p:spPr>
          <a:xfrm>
            <a:off x="486000" y="3708000"/>
            <a:ext cx="4716000" cy="882000"/>
          </a:xfrm>
          <a:prstGeom prst="roundRect">
            <a:avLst/>
          </a:prstGeom>
          <a:solidFill>
            <a:srgbClr val="f4f6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666000" y="3844800"/>
            <a:ext cx="1296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800" spc="-1" strike="noStrike">
                <a:solidFill>
                  <a:srgbClr val="111318"/>
                </a:solidFill>
                <a:latin typeface="Noto Sans CJK KR"/>
              </a:rPr>
              <a:t>다른 팀원</a:t>
            </a:r>
            <a:endParaRPr b="1" lang="en-US" sz="18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2016000" y="3834000"/>
            <a:ext cx="2916000" cy="99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500" spc="-1" strike="noStrike">
                <a:solidFill>
                  <a:srgbClr val="667085"/>
                </a:solidFill>
                <a:latin typeface="Noto Sans CJK KR"/>
              </a:rPr>
              <a:t>세부 전담은 다음 회의 확정</a:t>
            </a:r>
            <a:endParaRPr b="0" lang="en-US" sz="1500" spc="-1" strike="noStrike">
              <a:solidFill>
                <a:srgbClr val="667085"/>
              </a:solidFill>
              <a:latin typeface="Noto Sans CJK KR"/>
            </a:endParaRPr>
          </a:p>
          <a:p>
            <a:r>
              <a:rPr b="0" lang="en-US" sz="1500" spc="-1" strike="noStrike">
                <a:solidFill>
                  <a:srgbClr val="667085"/>
                </a:solidFill>
                <a:latin typeface="Noto Sans CJK KR"/>
              </a:rPr>
              <a:t>ACT·IK·Depth·</a:t>
            </a:r>
            <a:r>
              <a:rPr b="0" lang="zh-CN" sz="1500" spc="-1" strike="noStrike">
                <a:solidFill>
                  <a:srgbClr val="667085"/>
                </a:solidFill>
                <a:latin typeface="Noto Sans CJK KR"/>
              </a:rPr>
              <a:t>수집은 공통 학습</a:t>
            </a:r>
            <a:endParaRPr b="0" lang="en-US" sz="1500" spc="-1" strike="noStrike">
              <a:solidFill>
                <a:srgbClr val="667085"/>
              </a:solidFill>
              <a:latin typeface="Noto Sans CJK KR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5814000" y="1260000"/>
            <a:ext cx="20880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2457f5"/>
                </a:solidFill>
                <a:latin typeface="Courier New"/>
              </a:rPr>
              <a:t>ROADMAP</a:t>
            </a:r>
            <a:endParaRPr b="1" lang="en-US" sz="1100" spc="-1" strike="noStrike">
              <a:solidFill>
                <a:srgbClr val="2457f5"/>
              </a:solidFill>
              <a:latin typeface="Courier New"/>
            </a:endParaRPr>
          </a:p>
        </p:txBody>
      </p:sp>
      <p:sp>
        <p:nvSpPr>
          <p:cNvPr id="131" name=""/>
          <p:cNvSpPr/>
          <p:nvPr/>
        </p:nvSpPr>
        <p:spPr>
          <a:xfrm>
            <a:off x="5868000" y="1656000"/>
            <a:ext cx="187200" cy="187200"/>
          </a:xfrm>
          <a:prstGeom prst="ellipse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5952600" y="1843200"/>
            <a:ext cx="16200" cy="640800"/>
          </a:xfrm>
          <a:prstGeom prst="rect">
            <a:avLst/>
          </a:prstGeom>
          <a:solidFill>
            <a:srgbClr val="dde2e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192000" y="1548000"/>
            <a:ext cx="1548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2457f5"/>
                </a:solidFill>
                <a:latin typeface="Courier New"/>
              </a:rPr>
              <a:t>NOW — MID SEP</a:t>
            </a:r>
            <a:endParaRPr b="1" lang="en-US" sz="1000" spc="-1" strike="noStrike">
              <a:solidFill>
                <a:srgbClr val="2457f5"/>
              </a:solidFill>
              <a:latin typeface="Courier New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192000" y="1735200"/>
            <a:ext cx="450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800" spc="-1" strike="noStrike">
                <a:solidFill>
                  <a:srgbClr val="111318"/>
                </a:solidFill>
                <a:latin typeface="Noto Sans CJK KR"/>
              </a:rPr>
              <a:t>두 시나리오 실물 </a:t>
            </a:r>
            <a:r>
              <a:rPr b="1" lang="en-US" sz="1800" spc="-1" strike="noStrike">
                <a:solidFill>
                  <a:srgbClr val="111318"/>
                </a:solidFill>
                <a:latin typeface="Noto Sans CJK KR"/>
              </a:rPr>
              <a:t>POC</a:t>
            </a:r>
            <a:endParaRPr b="1" lang="en-US" sz="18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192000" y="1980000"/>
            <a:ext cx="450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400" spc="-1" strike="noStrike">
                <a:solidFill>
                  <a:srgbClr val="667085"/>
                </a:solidFill>
                <a:latin typeface="Noto Sans CJK KR"/>
              </a:rPr>
              <a:t>페이로드</a:t>
            </a:r>
            <a:r>
              <a:rPr b="0" lang="en-US" sz="1400" spc="-1" strike="noStrike">
                <a:solidFill>
                  <a:srgbClr val="667085"/>
                </a:solidFill>
                <a:latin typeface="Noto Sans CJK KR"/>
              </a:rPr>
              <a:t>·</a:t>
            </a:r>
            <a:r>
              <a:rPr b="0" lang="zh-CN" sz="1400" spc="-1" strike="noStrike">
                <a:solidFill>
                  <a:srgbClr val="667085"/>
                </a:solidFill>
                <a:latin typeface="Noto Sans CJK KR"/>
              </a:rPr>
              <a:t>흡착</a:t>
            </a:r>
            <a:r>
              <a:rPr b="0" lang="en-US" sz="1400" spc="-1" strike="noStrike">
                <a:solidFill>
                  <a:srgbClr val="667085"/>
                </a:solidFill>
                <a:latin typeface="Noto Sans CJK KR"/>
              </a:rPr>
              <a:t>·</a:t>
            </a:r>
            <a:r>
              <a:rPr b="0" lang="zh-CN" sz="1400" spc="-1" strike="noStrike">
                <a:solidFill>
                  <a:srgbClr val="667085"/>
                </a:solidFill>
                <a:latin typeface="Noto Sans CJK KR"/>
              </a:rPr>
              <a:t>파지</a:t>
            </a:r>
            <a:r>
              <a:rPr b="0" lang="en-US" sz="1400" spc="-1" strike="noStrike">
                <a:solidFill>
                  <a:srgbClr val="667085"/>
                </a:solidFill>
                <a:latin typeface="Noto Sans CJK KR"/>
              </a:rPr>
              <a:t>·</a:t>
            </a:r>
            <a:r>
              <a:rPr b="0" lang="zh-CN" sz="1400" spc="-1" strike="noStrike">
                <a:solidFill>
                  <a:srgbClr val="667085"/>
                </a:solidFill>
                <a:latin typeface="Noto Sans CJK KR"/>
              </a:rPr>
              <a:t>센서</a:t>
            </a:r>
            <a:endParaRPr b="0" lang="en-US" sz="1400" spc="-1" strike="noStrike">
              <a:solidFill>
                <a:srgbClr val="667085"/>
              </a:solidFill>
              <a:latin typeface="Noto Sans CJK KR"/>
            </a:endParaRPr>
          </a:p>
        </p:txBody>
      </p:sp>
      <p:sp>
        <p:nvSpPr>
          <p:cNvPr id="136" name=""/>
          <p:cNvSpPr/>
          <p:nvPr/>
        </p:nvSpPr>
        <p:spPr>
          <a:xfrm>
            <a:off x="5868000" y="2484000"/>
            <a:ext cx="187200" cy="187200"/>
          </a:xfrm>
          <a:prstGeom prst="ellipse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5952600" y="2671200"/>
            <a:ext cx="16200" cy="640800"/>
          </a:xfrm>
          <a:prstGeom prst="rect">
            <a:avLst/>
          </a:prstGeom>
          <a:solidFill>
            <a:srgbClr val="dde2e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192000" y="2376000"/>
            <a:ext cx="1548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2457f5"/>
                </a:solidFill>
                <a:latin typeface="Courier New"/>
              </a:rPr>
              <a:t>MID SEP GATE</a:t>
            </a:r>
            <a:endParaRPr b="1" lang="en-US" sz="1000" spc="-1" strike="noStrike">
              <a:solidFill>
                <a:srgbClr val="2457f5"/>
              </a:solidFill>
              <a:latin typeface="Courier New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6192000" y="2563200"/>
            <a:ext cx="450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800" spc="-1" strike="noStrike">
                <a:solidFill>
                  <a:srgbClr val="111318"/>
                </a:solidFill>
                <a:latin typeface="Noto Sans CJK KR"/>
              </a:rPr>
              <a:t>메인 시나리오 결정</a:t>
            </a:r>
            <a:endParaRPr b="1" lang="en-US" sz="18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6192000" y="2808000"/>
            <a:ext cx="450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400" spc="-1" strike="noStrike">
                <a:solidFill>
                  <a:srgbClr val="667085"/>
                </a:solidFill>
                <a:latin typeface="Noto Sans CJK KR"/>
              </a:rPr>
              <a:t>성공률</a:t>
            </a:r>
            <a:r>
              <a:rPr b="0" lang="en-US" sz="1400" spc="-1" strike="noStrike">
                <a:solidFill>
                  <a:srgbClr val="667085"/>
                </a:solidFill>
                <a:latin typeface="Noto Sans CJK KR"/>
              </a:rPr>
              <a:t>·</a:t>
            </a:r>
            <a:r>
              <a:rPr b="0" lang="zh-CN" sz="1400" spc="-1" strike="noStrike">
                <a:solidFill>
                  <a:srgbClr val="667085"/>
                </a:solidFill>
                <a:latin typeface="Noto Sans CJK KR"/>
              </a:rPr>
              <a:t>복구</a:t>
            </a:r>
            <a:r>
              <a:rPr b="0" lang="en-US" sz="1400" spc="-1" strike="noStrike">
                <a:solidFill>
                  <a:srgbClr val="667085"/>
                </a:solidFill>
                <a:latin typeface="Noto Sans CJK KR"/>
              </a:rPr>
              <a:t>·</a:t>
            </a:r>
            <a:r>
              <a:rPr b="0" lang="zh-CN" sz="1400" spc="-1" strike="noStrike">
                <a:solidFill>
                  <a:srgbClr val="667085"/>
                </a:solidFill>
                <a:latin typeface="Noto Sans CJK KR"/>
              </a:rPr>
              <a:t>통합성</a:t>
            </a:r>
            <a:endParaRPr b="0" lang="en-US" sz="1400" spc="-1" strike="noStrike">
              <a:solidFill>
                <a:srgbClr val="667085"/>
              </a:solidFill>
              <a:latin typeface="Noto Sans CJK KR"/>
            </a:endParaRPr>
          </a:p>
        </p:txBody>
      </p:sp>
      <p:sp>
        <p:nvSpPr>
          <p:cNvPr id="141" name=""/>
          <p:cNvSpPr/>
          <p:nvPr/>
        </p:nvSpPr>
        <p:spPr>
          <a:xfrm>
            <a:off x="5868000" y="3312000"/>
            <a:ext cx="187200" cy="187200"/>
          </a:xfrm>
          <a:prstGeom prst="ellipse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5952600" y="3499200"/>
            <a:ext cx="16200" cy="640800"/>
          </a:xfrm>
          <a:prstGeom prst="rect">
            <a:avLst/>
          </a:prstGeom>
          <a:solidFill>
            <a:srgbClr val="dde2e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6192000" y="3204000"/>
            <a:ext cx="1548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2457f5"/>
                </a:solidFill>
                <a:latin typeface="Courier New"/>
              </a:rPr>
              <a:t>BUILD</a:t>
            </a:r>
            <a:endParaRPr b="1" lang="en-US" sz="1000" spc="-1" strike="noStrike">
              <a:solidFill>
                <a:srgbClr val="2457f5"/>
              </a:solidFill>
              <a:latin typeface="Courier New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6192000" y="3391200"/>
            <a:ext cx="450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800" spc="-1" strike="noStrike">
                <a:solidFill>
                  <a:srgbClr val="111318"/>
                </a:solidFill>
                <a:latin typeface="Noto Sans CJK KR"/>
              </a:rPr>
              <a:t>그리퍼</a:t>
            </a:r>
            <a:r>
              <a:rPr b="1" lang="en-US" sz="1800" spc="-1" strike="noStrike">
                <a:solidFill>
                  <a:srgbClr val="111318"/>
                </a:solidFill>
                <a:latin typeface="Noto Sans CJK KR"/>
              </a:rPr>
              <a:t>·SLAM·ACT·LLM </a:t>
            </a:r>
            <a:r>
              <a:rPr b="1" lang="zh-CN" sz="1800" spc="-1" strike="noStrike">
                <a:solidFill>
                  <a:srgbClr val="111318"/>
                </a:solidFill>
                <a:latin typeface="Noto Sans CJK KR"/>
              </a:rPr>
              <a:t>결합</a:t>
            </a:r>
            <a:endParaRPr b="1" lang="en-US" sz="18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6192000" y="3636000"/>
            <a:ext cx="450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400" spc="-1" strike="noStrike">
                <a:solidFill>
                  <a:srgbClr val="667085"/>
                </a:solidFill>
                <a:latin typeface="Noto Sans CJK KR"/>
              </a:rPr>
              <a:t>스킬별 단독 </a:t>
            </a:r>
            <a:r>
              <a:rPr b="0" lang="en-US" sz="1400" spc="-1" strike="noStrike">
                <a:solidFill>
                  <a:srgbClr val="667085"/>
                </a:solidFill>
                <a:latin typeface="Noto Sans CJK KR"/>
              </a:rPr>
              <a:t>PASS</a:t>
            </a:r>
            <a:endParaRPr b="0" lang="en-US" sz="1400" spc="-1" strike="noStrike">
              <a:solidFill>
                <a:srgbClr val="667085"/>
              </a:solidFill>
              <a:latin typeface="Noto Sans CJK KR"/>
            </a:endParaRPr>
          </a:p>
        </p:txBody>
      </p:sp>
      <p:sp>
        <p:nvSpPr>
          <p:cNvPr id="146" name=""/>
          <p:cNvSpPr/>
          <p:nvPr/>
        </p:nvSpPr>
        <p:spPr>
          <a:xfrm>
            <a:off x="5868000" y="4140000"/>
            <a:ext cx="187200" cy="187200"/>
          </a:xfrm>
          <a:prstGeom prst="ellipse">
            <a:avLst/>
          </a:prstGeom>
          <a:solidFill>
            <a:srgbClr val="2457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6192000" y="4032000"/>
            <a:ext cx="1548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2457f5"/>
                </a:solidFill>
                <a:latin typeface="Courier New"/>
              </a:rPr>
              <a:t>TEST</a:t>
            </a:r>
            <a:endParaRPr b="1" lang="en-US" sz="1000" spc="-1" strike="noStrike">
              <a:solidFill>
                <a:srgbClr val="2457f5"/>
              </a:solidFill>
              <a:latin typeface="Courier New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6192000" y="4219200"/>
            <a:ext cx="450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111318"/>
                </a:solidFill>
                <a:latin typeface="Noto Sans CJK KR"/>
              </a:rPr>
              <a:t>1</a:t>
            </a:r>
            <a:r>
              <a:rPr b="1" lang="zh-CN" sz="1800" spc="-1" strike="noStrike">
                <a:solidFill>
                  <a:srgbClr val="111318"/>
                </a:solidFill>
                <a:latin typeface="Noto Sans CJK KR"/>
              </a:rPr>
              <a:t>차 통합 → 보완 → 최종</a:t>
            </a:r>
            <a:endParaRPr b="1" lang="en-US" sz="1800" spc="-1" strike="noStrike">
              <a:solidFill>
                <a:srgbClr val="111318"/>
              </a:solidFill>
              <a:latin typeface="Noto Sans CJK KR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192000" y="4464000"/>
            <a:ext cx="4500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400" spc="-1" strike="noStrike">
                <a:solidFill>
                  <a:srgbClr val="667085"/>
                </a:solidFill>
                <a:latin typeface="Noto Sans CJK KR"/>
              </a:rPr>
              <a:t>반복 시험</a:t>
            </a:r>
            <a:r>
              <a:rPr b="0" lang="en-US" sz="1400" spc="-1" strike="noStrike">
                <a:solidFill>
                  <a:srgbClr val="667085"/>
                </a:solidFill>
                <a:latin typeface="Noto Sans CJK KR"/>
              </a:rPr>
              <a:t>·</a:t>
            </a:r>
            <a:r>
              <a:rPr b="0" lang="zh-CN" sz="1400" spc="-1" strike="noStrike">
                <a:solidFill>
                  <a:srgbClr val="667085"/>
                </a:solidFill>
                <a:latin typeface="Noto Sans CJK KR"/>
              </a:rPr>
              <a:t>영상</a:t>
            </a:r>
            <a:r>
              <a:rPr b="0" lang="en-US" sz="1400" spc="-1" strike="noStrike">
                <a:solidFill>
                  <a:srgbClr val="667085"/>
                </a:solidFill>
                <a:latin typeface="Noto Sans CJK KR"/>
              </a:rPr>
              <a:t>·</a:t>
            </a:r>
            <a:r>
              <a:rPr b="0" lang="zh-CN" sz="1400" spc="-1" strike="noStrike">
                <a:solidFill>
                  <a:srgbClr val="667085"/>
                </a:solidFill>
                <a:latin typeface="Noto Sans CJK KR"/>
              </a:rPr>
              <a:t>로그</a:t>
            </a:r>
            <a:endParaRPr b="0" lang="en-US" sz="1400" spc="-1" strike="noStrike">
              <a:solidFill>
                <a:srgbClr val="667085"/>
              </a:solidFill>
              <a:latin typeface="Noto Sans CJK KR"/>
            </a:endParaRPr>
          </a:p>
        </p:txBody>
      </p:sp>
      <p:sp>
        <p:nvSpPr>
          <p:cNvPr id="150" name=""/>
          <p:cNvSpPr/>
          <p:nvPr/>
        </p:nvSpPr>
        <p:spPr>
          <a:xfrm>
            <a:off x="486000" y="5004000"/>
            <a:ext cx="11214000" cy="954000"/>
          </a:xfrm>
          <a:prstGeom prst="roundRect">
            <a:avLst/>
          </a:prstGeom>
          <a:solidFill>
            <a:srgbClr val="11131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666000" y="5148000"/>
            <a:ext cx="18360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2457f5"/>
                </a:solidFill>
                <a:latin typeface="Courier New"/>
              </a:rPr>
              <a:t>RECOMMENDATION</a:t>
            </a:r>
            <a:endParaRPr b="1" lang="en-US" sz="1000" spc="-1" strike="noStrike">
              <a:solidFill>
                <a:srgbClr val="2457f5"/>
              </a:solidFill>
              <a:latin typeface="Courier New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666000" y="5371200"/>
            <a:ext cx="102600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2100" spc="-1" strike="noStrike">
                <a:solidFill>
                  <a:srgbClr val="ffffff"/>
                </a:solidFill>
                <a:latin typeface="Noto Sans CJK KR"/>
              </a:rPr>
              <a:t>메인  </a:t>
            </a:r>
            <a:r>
              <a:rPr b="1" lang="en-US" sz="2100" spc="-1" strike="noStrike">
                <a:solidFill>
                  <a:srgbClr val="ffffff"/>
                </a:solidFill>
                <a:latin typeface="Noto Sans CJK KR"/>
              </a:rPr>
              <a:t>/  </a:t>
            </a:r>
            <a:r>
              <a:rPr b="1" lang="zh-CN" sz="2100" spc="-1" strike="noStrike">
                <a:solidFill>
                  <a:srgbClr val="ffffff"/>
                </a:solidFill>
                <a:latin typeface="Noto Sans CJK KR"/>
              </a:rPr>
              <a:t>이동형 물병 붓기     </a:t>
            </a:r>
            <a:r>
              <a:rPr b="1" lang="en-US" sz="2100" spc="-1" strike="noStrike">
                <a:solidFill>
                  <a:srgbClr val="ffffff"/>
                </a:solidFill>
                <a:latin typeface="Noto Sans CJK KR"/>
              </a:rPr>
              <a:t>·     </a:t>
            </a:r>
            <a:r>
              <a:rPr b="1" lang="zh-CN" sz="2100" spc="-1" strike="noStrike">
                <a:solidFill>
                  <a:srgbClr val="ffffff"/>
                </a:solidFill>
                <a:latin typeface="Noto Sans CJK KR"/>
              </a:rPr>
              <a:t>기술 데모  </a:t>
            </a:r>
            <a:r>
              <a:rPr b="1" lang="en-US" sz="2100" spc="-1" strike="noStrike">
                <a:solidFill>
                  <a:srgbClr val="ffffff"/>
                </a:solidFill>
                <a:latin typeface="Noto Sans CJK KR"/>
              </a:rPr>
              <a:t>/  </a:t>
            </a:r>
            <a:r>
              <a:rPr b="1" lang="zh-CN" sz="2100" spc="-1" strike="noStrike">
                <a:solidFill>
                  <a:srgbClr val="ffffff"/>
                </a:solidFill>
                <a:latin typeface="Noto Sans CJK KR"/>
              </a:rPr>
              <a:t>봉지 열기 </a:t>
            </a:r>
            <a:r>
              <a:rPr b="1" lang="en-US" sz="2100" spc="-1" strike="noStrike">
                <a:solidFill>
                  <a:srgbClr val="ffffff"/>
                </a:solidFill>
                <a:latin typeface="Noto Sans CJK KR"/>
              </a:rPr>
              <a:t>+ </a:t>
            </a:r>
            <a:r>
              <a:rPr b="1" lang="zh-CN" sz="2100" spc="-1" strike="noStrike">
                <a:solidFill>
                  <a:srgbClr val="ffffff"/>
                </a:solidFill>
                <a:latin typeface="Noto Sans CJK KR"/>
              </a:rPr>
              <a:t>실패 복구</a:t>
            </a:r>
            <a:endParaRPr b="1" lang="en-US" sz="21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486000" y="6516000"/>
            <a:ext cx="102960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20" spc="-1" strike="noStrike">
                <a:solidFill>
                  <a:srgbClr val="667085"/>
                </a:solidFill>
                <a:latin typeface="Arial"/>
              </a:rPr>
              <a:t>Decision basis: physical POC gate · mobile bimanual portfolio evidence · safe skill-bounded recovery</a:t>
            </a:r>
            <a:endParaRPr b="0" lang="en-US" sz="620" spc="-1" strike="noStrike">
              <a:solidFill>
                <a:srgbClr val="667085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2026-08-28T13:02:34Z</dcterms:created>
  <dc:creator>bimanual-robot team</dc:creator>
  <dc:description/>
  <dc:language>en-US</dc:language>
  <cp:lastModifiedBy/>
  <dcterms:modified xsi:type="dcterms:W3CDTF">2026-08-28T13:02:39Z</dcterms:modified>
  <cp:revision>1</cp:revision>
  <dc:subject>봉지·비정형 물병 병행 POC, SLAM·ACT·로컬 LLM 감독 구조</dc:subject>
  <dc:title>양팔 로봇 프로젝트 회의 결과</dc:title>
</cp:coreProperties>
</file>